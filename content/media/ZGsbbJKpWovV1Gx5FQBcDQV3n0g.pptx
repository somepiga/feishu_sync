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24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5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41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5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55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54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5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79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8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7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3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63E2A-DDDF-4F67-A12C-53B053AA3F6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9E43-0ECF-4A45-92B7-4AF4E0EE4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0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78169" y="1318847"/>
            <a:ext cx="624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r>
              <a:rPr lang="en-US" altLang="zh-CN" dirty="0" smtClean="0"/>
              <a:t>ccxl </a:t>
            </a:r>
            <a:r>
              <a:rPr lang="zh-CN" altLang="en-US" dirty="0" smtClean="0"/>
              <a:t>是关于</a:t>
            </a:r>
            <a:r>
              <a:rPr lang="en-US" altLang="zh-CN" dirty="0" smtClean="0"/>
              <a:t>GDR</a:t>
            </a:r>
            <a:r>
              <a:rPr lang="zh-CN" altLang="en-US" dirty="0" smtClean="0"/>
              <a:t>的操作</a:t>
            </a:r>
            <a:r>
              <a:rPr lang="en-US" altLang="zh-CN" dirty="0" smtClean="0"/>
              <a:t>		GPU -&gt; RDMA -&gt; GPU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1499" y="474785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我们和</a:t>
            </a:r>
            <a:r>
              <a:rPr lang="en-US" altLang="zh-CN" b="1" dirty="0" smtClean="0"/>
              <a:t>ncclx</a:t>
            </a:r>
            <a:r>
              <a:rPr lang="zh-CN" altLang="en-US" b="1" dirty="0" smtClean="0"/>
              <a:t>的区别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78169" y="2253762"/>
            <a:ext cx="781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我们</a:t>
            </a:r>
            <a:r>
              <a:rPr lang="en-US" altLang="zh-CN" dirty="0" smtClean="0"/>
              <a:t>				GPU -&gt; CPU -&gt; </a:t>
            </a:r>
            <a:r>
              <a:rPr lang="en-US" altLang="zh-CN" dirty="0"/>
              <a:t>RDMA </a:t>
            </a:r>
            <a:r>
              <a:rPr lang="en-US" altLang="zh-CN" dirty="0" smtClean="0"/>
              <a:t>-&gt; CPU -&gt; GPU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458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9561" y="40441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背景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78" y="1339406"/>
            <a:ext cx="9809524" cy="140952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4247" y="886563"/>
            <a:ext cx="4241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r>
              <a:rPr lang="en-US" altLang="zh-CN" dirty="0" smtClean="0"/>
              <a:t>cclx</a:t>
            </a:r>
            <a:r>
              <a:rPr lang="zh-CN" altLang="en-US" dirty="0" smtClean="0"/>
              <a:t>的一大改进，是将</a:t>
            </a:r>
            <a:r>
              <a:rPr lang="en-US" altLang="zh-CN" dirty="0" smtClean="0"/>
              <a:t>GDR</a:t>
            </a:r>
            <a:r>
              <a:rPr lang="zh-CN" altLang="en-US" dirty="0" smtClean="0"/>
              <a:t>改进成</a:t>
            </a:r>
            <a:r>
              <a:rPr lang="en-US" altLang="zh-CN" dirty="0" smtClean="0"/>
              <a:t>0</a:t>
            </a:r>
            <a:r>
              <a:rPr lang="zh-CN" altLang="en-US" dirty="0" smtClean="0"/>
              <a:t>拷贝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74247" y="2965957"/>
            <a:ext cx="4224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1D1D20"/>
                </a:solidFill>
                <a:latin typeface="system-ui"/>
              </a:rPr>
              <a:t>好处：避免拷贝操作占用</a:t>
            </a:r>
            <a:r>
              <a:rPr lang="en-US" altLang="zh-CN" dirty="0" smtClean="0">
                <a:solidFill>
                  <a:srgbClr val="1D1D20"/>
                </a:solidFill>
                <a:latin typeface="system-ui"/>
              </a:rPr>
              <a:t>SM</a:t>
            </a:r>
            <a:r>
              <a:rPr lang="zh-CN" altLang="en-US" dirty="0" smtClean="0">
                <a:solidFill>
                  <a:srgbClr val="1D1D20"/>
                </a:solidFill>
                <a:latin typeface="system-ui"/>
              </a:rPr>
              <a:t>和</a:t>
            </a:r>
            <a:r>
              <a:rPr lang="en-US" altLang="zh-CN" dirty="0" smtClean="0">
                <a:solidFill>
                  <a:srgbClr val="1D1D20"/>
                </a:solidFill>
                <a:latin typeface="system-ui"/>
              </a:rPr>
              <a:t>HBM ……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74246" y="3352789"/>
            <a:ext cx="8181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带来的问题：数据发送太快了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	     </a:t>
            </a:r>
            <a:r>
              <a:rPr lang="zh-CN" altLang="en-US" dirty="0" smtClean="0"/>
              <a:t>（传统</a:t>
            </a:r>
            <a:r>
              <a:rPr lang="en-US" altLang="zh-CN" dirty="0" smtClean="0"/>
              <a:t>FIFO </a:t>
            </a:r>
            <a:r>
              <a:rPr lang="zh-CN" altLang="en-US" dirty="0"/>
              <a:t>缓冲区大小天然</a:t>
            </a:r>
            <a:r>
              <a:rPr lang="zh-CN" altLang="en-US" dirty="0" smtClean="0"/>
              <a:t>限制发送数据量）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74246" y="4515140"/>
            <a:ext cx="3233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BDP</a:t>
            </a:r>
            <a:r>
              <a:rPr lang="zh-CN" altLang="en-US" dirty="0" smtClean="0"/>
              <a:t>＝带宽</a:t>
            </a:r>
            <a:r>
              <a:rPr lang="en-US" altLang="zh-CN" dirty="0"/>
              <a:t> </a:t>
            </a:r>
            <a:r>
              <a:rPr lang="en-US" altLang="zh-CN" dirty="0" smtClean="0"/>
              <a:t>* </a:t>
            </a:r>
            <a:r>
              <a:rPr lang="zh-CN" altLang="en-US" dirty="0" smtClean="0"/>
              <a:t>延时</a:t>
            </a:r>
            <a:endParaRPr lang="en-US" altLang="zh-CN" dirty="0" smtClean="0"/>
          </a:p>
          <a:p>
            <a:r>
              <a:rPr lang="zh-CN" altLang="en-US" dirty="0"/>
              <a:t>数据</a:t>
            </a:r>
            <a:r>
              <a:rPr lang="zh-CN" altLang="en-US" dirty="0" smtClean="0"/>
              <a:t>量 </a:t>
            </a:r>
            <a:r>
              <a:rPr lang="en-US" altLang="zh-CN" dirty="0" smtClean="0"/>
              <a:t>&lt; BDP</a:t>
            </a:r>
            <a:r>
              <a:rPr lang="zh-CN" altLang="en-US" dirty="0" smtClean="0"/>
              <a:t>：网络没有打满</a:t>
            </a:r>
            <a:endParaRPr lang="en-US" altLang="zh-CN" dirty="0" smtClean="0"/>
          </a:p>
          <a:p>
            <a:r>
              <a:rPr lang="zh-CN" altLang="en-US" dirty="0"/>
              <a:t>数据</a:t>
            </a:r>
            <a:r>
              <a:rPr lang="zh-CN" altLang="en-US" dirty="0" smtClean="0"/>
              <a:t>量 </a:t>
            </a:r>
            <a:r>
              <a:rPr lang="en-US" altLang="zh-CN" dirty="0" smtClean="0"/>
              <a:t>&gt; BDP</a:t>
            </a:r>
            <a:r>
              <a:rPr lang="zh-CN" altLang="en-US" dirty="0" smtClean="0"/>
              <a:t>：可能造成拥塞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74246" y="5846884"/>
            <a:ext cx="5399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在这种背景下，提出了 </a:t>
            </a:r>
            <a:r>
              <a:rPr lang="en-US" altLang="zh-CN" b="1" dirty="0" smtClean="0"/>
              <a:t>DQPLB</a:t>
            </a:r>
            <a:r>
              <a:rPr lang="zh-CN" altLang="en-US" b="1" dirty="0"/>
              <a:t>（</a:t>
            </a:r>
            <a:r>
              <a:rPr lang="zh-CN" altLang="en-US" b="1" dirty="0" smtClean="0"/>
              <a:t>动态</a:t>
            </a:r>
            <a:r>
              <a:rPr lang="en-US" altLang="zh-CN" b="1" dirty="0" smtClean="0"/>
              <a:t>QP</a:t>
            </a:r>
            <a:r>
              <a:rPr lang="zh-CN" altLang="en-US" b="1" dirty="0" smtClean="0"/>
              <a:t>负载</a:t>
            </a:r>
            <a:r>
              <a:rPr lang="zh-CN" altLang="en-US" b="1" dirty="0"/>
              <a:t>均衡）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4073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833" y="980029"/>
            <a:ext cx="6480459" cy="32909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271953" y="4804928"/>
            <a:ext cx="89622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DQPLB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使用一个控制</a:t>
            </a:r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QP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和多个数据</a:t>
            </a:r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QP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。</a:t>
            </a:r>
            <a:endParaRPr lang="en-US" altLang="zh-CN" b="0" i="0" dirty="0" smtClean="0">
              <a:solidFill>
                <a:srgbClr val="191B1F"/>
              </a:solidFill>
              <a:effectLst/>
            </a:endParaRPr>
          </a:p>
          <a:p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控制</a:t>
            </a:r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QP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负责在集体操作开始时交换内存地址，而数据</a:t>
            </a:r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QP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通过</a:t>
            </a:r>
            <a:r>
              <a:rPr lang="en-US" altLang="zh-CN" b="0" i="0" dirty="0" smtClean="0">
                <a:solidFill>
                  <a:srgbClr val="191B1F"/>
                </a:solidFill>
                <a:effectLst/>
              </a:rPr>
              <a:t>scale-out</a:t>
            </a:r>
            <a:r>
              <a:rPr lang="zh-CN" altLang="en-US" b="0" i="0" dirty="0" smtClean="0">
                <a:solidFill>
                  <a:srgbClr val="191B1F"/>
                </a:solidFill>
                <a:effectLst/>
              </a:rPr>
              <a:t>进行数据传输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47988" y="492342"/>
            <a:ext cx="72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多</a:t>
            </a:r>
            <a:r>
              <a:rPr lang="en-US" altLang="zh-CN" b="1" dirty="0" smtClean="0"/>
              <a:t>QP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30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47988" y="492342"/>
            <a:ext cx="1879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限制</a:t>
            </a:r>
            <a:r>
              <a:rPr lang="en-US" altLang="zh-CN" b="1" dirty="0" smtClean="0"/>
              <a:t>QP</a:t>
            </a:r>
            <a:r>
              <a:rPr lang="zh-CN" altLang="en-US" b="1" dirty="0" smtClean="0"/>
              <a:t>发送深度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126" y="975974"/>
            <a:ext cx="4104762" cy="314285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72705" y="464233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目的为了限制网络中的数据量，尽量避免拥塞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74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47988" y="492342"/>
            <a:ext cx="2802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QP</a:t>
            </a:r>
            <a:r>
              <a:rPr lang="zh-CN" altLang="en-US" b="1" dirty="0" smtClean="0"/>
              <a:t>数量和发送深度的选择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75239" y="1376062"/>
            <a:ext cx="6096000" cy="21276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191B1F"/>
                </a:solidFill>
              </a:rPr>
              <a:t>DQPLB</a:t>
            </a:r>
            <a:r>
              <a:rPr lang="zh-CN" altLang="en-US" dirty="0">
                <a:solidFill>
                  <a:srgbClr val="191B1F"/>
                </a:solidFill>
              </a:rPr>
              <a:t>定义</a:t>
            </a:r>
            <a:r>
              <a:rPr lang="zh-CN" altLang="en-US" dirty="0" smtClean="0">
                <a:solidFill>
                  <a:srgbClr val="191B1F"/>
                </a:solidFill>
              </a:rPr>
              <a:t>了四</a:t>
            </a:r>
            <a:r>
              <a:rPr lang="zh-CN" altLang="en-US" dirty="0">
                <a:solidFill>
                  <a:srgbClr val="191B1F"/>
                </a:solidFill>
              </a:rPr>
              <a:t>类连接类型 </a:t>
            </a:r>
            <a:r>
              <a:rPr lang="zh-CN" altLang="en-US" dirty="0" smtClean="0">
                <a:solidFill>
                  <a:srgbClr val="191B1F"/>
                </a:solidFill>
              </a:rPr>
              <a:t>：</a:t>
            </a:r>
            <a:endParaRPr lang="en-US" altLang="zh-CN" dirty="0" smtClean="0">
              <a:solidFill>
                <a:srgbClr val="191B1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91B1F"/>
                </a:solidFill>
              </a:rPr>
              <a:t>同</a:t>
            </a:r>
            <a:r>
              <a:rPr lang="zh-CN" altLang="en-US" dirty="0">
                <a:solidFill>
                  <a:srgbClr val="191B1F"/>
                </a:solidFill>
              </a:rPr>
              <a:t>一机架</a:t>
            </a:r>
            <a:r>
              <a:rPr lang="zh-CN" altLang="en-US" dirty="0" smtClean="0">
                <a:solidFill>
                  <a:srgbClr val="191B1F"/>
                </a:solidFill>
              </a:rPr>
              <a:t>内</a:t>
            </a:r>
            <a:endParaRPr lang="en-US" altLang="zh-CN" dirty="0" smtClean="0">
              <a:solidFill>
                <a:srgbClr val="191B1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91B1F"/>
                </a:solidFill>
              </a:rPr>
              <a:t>同</a:t>
            </a:r>
            <a:r>
              <a:rPr lang="zh-CN" altLang="en-US" dirty="0">
                <a:solidFill>
                  <a:srgbClr val="191B1F"/>
                </a:solidFill>
              </a:rPr>
              <a:t>一区域内跨</a:t>
            </a:r>
            <a:r>
              <a:rPr lang="zh-CN" altLang="en-US" dirty="0" smtClean="0">
                <a:solidFill>
                  <a:srgbClr val="191B1F"/>
                </a:solidFill>
              </a:rPr>
              <a:t>机架</a:t>
            </a:r>
            <a:endParaRPr lang="en-US" altLang="zh-CN" dirty="0" smtClean="0">
              <a:solidFill>
                <a:srgbClr val="191B1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91B1F"/>
                </a:solidFill>
              </a:rPr>
              <a:t>同</a:t>
            </a:r>
            <a:r>
              <a:rPr lang="zh-CN" altLang="en-US" dirty="0">
                <a:solidFill>
                  <a:srgbClr val="191B1F"/>
                </a:solidFill>
              </a:rPr>
              <a:t>一</a:t>
            </a:r>
            <a:r>
              <a:rPr lang="en-US" altLang="zh-CN" dirty="0">
                <a:solidFill>
                  <a:srgbClr val="191B1F"/>
                </a:solidFill>
              </a:rPr>
              <a:t>DC</a:t>
            </a:r>
            <a:r>
              <a:rPr lang="zh-CN" altLang="en-US" dirty="0">
                <a:solidFill>
                  <a:srgbClr val="191B1F"/>
                </a:solidFill>
              </a:rPr>
              <a:t>内跨</a:t>
            </a:r>
            <a:r>
              <a:rPr lang="zh-CN" altLang="en-US" dirty="0" smtClean="0">
                <a:solidFill>
                  <a:srgbClr val="191B1F"/>
                </a:solidFill>
              </a:rPr>
              <a:t>区域</a:t>
            </a:r>
            <a:endParaRPr lang="en-US" altLang="zh-CN" dirty="0" smtClean="0">
              <a:solidFill>
                <a:srgbClr val="191B1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191B1F"/>
                </a:solidFill>
              </a:rPr>
              <a:t>跨</a:t>
            </a:r>
            <a:r>
              <a:rPr lang="en-US" altLang="zh-CN" dirty="0" smtClean="0">
                <a:solidFill>
                  <a:srgbClr val="191B1F"/>
                </a:solidFill>
              </a:rPr>
              <a:t>DC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75239" y="4018085"/>
            <a:ext cx="382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四</a:t>
            </a:r>
            <a:r>
              <a:rPr lang="zh-CN" altLang="en-US" dirty="0" smtClean="0"/>
              <a:t>种类型的</a:t>
            </a:r>
            <a:r>
              <a:rPr lang="en-US" altLang="zh-CN" dirty="0" smtClean="0"/>
              <a:t>BDP</a:t>
            </a:r>
            <a:r>
              <a:rPr lang="zh-CN" altLang="en-US" dirty="0" smtClean="0"/>
              <a:t>差距较大，因地制宜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818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75172" y="55388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核心代码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75172" y="1230923"/>
            <a:ext cx="104791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两种模式：</a:t>
            </a:r>
            <a:r>
              <a:rPr lang="en-US" altLang="zh-CN" dirty="0" smtClean="0"/>
              <a:t>SPRAY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DQPLB</a:t>
            </a:r>
          </a:p>
          <a:p>
            <a:endParaRPr lang="en-US" altLang="zh-CN" dirty="0"/>
          </a:p>
          <a:p>
            <a:r>
              <a:rPr lang="en-US" altLang="zh-CN" dirty="0" smtClean="0"/>
              <a:t>SPRAY </a:t>
            </a:r>
            <a:r>
              <a:rPr lang="zh-CN" altLang="en-US" dirty="0" smtClean="0"/>
              <a:t>使用 </a:t>
            </a:r>
            <a:r>
              <a:rPr lang="en-US" altLang="zh-CN" dirty="0" smtClean="0"/>
              <a:t>RDMA_WRITE</a:t>
            </a:r>
            <a:r>
              <a:rPr lang="zh-CN" altLang="en-US" dirty="0" smtClean="0"/>
              <a:t>，接收端无感，需要发送端额外发送一个</a:t>
            </a:r>
            <a:r>
              <a:rPr lang="en-US" altLang="zh-CN" dirty="0" smtClean="0"/>
              <a:t>notify</a:t>
            </a:r>
            <a:r>
              <a:rPr lang="zh-CN" altLang="en-US" dirty="0" smtClean="0"/>
              <a:t>请求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DQPLB </a:t>
            </a:r>
            <a:r>
              <a:rPr lang="zh-CN" altLang="en-US" dirty="0" smtClean="0"/>
              <a:t>使用 </a:t>
            </a:r>
            <a:r>
              <a:rPr lang="en-US" altLang="zh-CN" dirty="0" smtClean="0"/>
              <a:t>RDMA_WRITE_WITH_IMM</a:t>
            </a:r>
            <a:r>
              <a:rPr lang="zh-CN" altLang="en-US" dirty="0" smtClean="0"/>
              <a:t>，每一次发送携带序号，接收端通过</a:t>
            </a:r>
            <a:r>
              <a:rPr lang="en-US" altLang="zh-CN" dirty="0" smtClean="0"/>
              <a:t>poll CQ</a:t>
            </a:r>
            <a:r>
              <a:rPr lang="zh-CN" altLang="en-US" dirty="0" smtClean="0"/>
              <a:t>得到已接收的数据块</a:t>
            </a:r>
            <a:endParaRPr lang="en-US" altLang="zh-CN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775172" y="3182815"/>
            <a:ext cx="232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n</a:t>
            </a:r>
            <a:r>
              <a:rPr lang="en-US" altLang="zh-CN" b="1" dirty="0" smtClean="0"/>
              <a:t>cclx</a:t>
            </a:r>
            <a:r>
              <a:rPr lang="zh-CN" altLang="en-US" b="1" dirty="0" smtClean="0"/>
              <a:t>默认使用</a:t>
            </a:r>
            <a:r>
              <a:rPr lang="en-US" altLang="zh-CN" b="1" dirty="0" smtClean="0"/>
              <a:t>SPRAY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5680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206</Words>
  <Application>Microsoft Office PowerPoint</Application>
  <PresentationFormat>宽屏</PresentationFormat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system-ui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Yitian He</dc:creator>
  <cp:lastModifiedBy>Yitian He</cp:lastModifiedBy>
  <cp:revision>16</cp:revision>
  <dcterms:created xsi:type="dcterms:W3CDTF">2025-12-08T02:53:24Z</dcterms:created>
  <dcterms:modified xsi:type="dcterms:W3CDTF">2025-12-08T09:52:34Z</dcterms:modified>
</cp:coreProperties>
</file>