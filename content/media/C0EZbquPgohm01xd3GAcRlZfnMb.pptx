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0" r:id="rId3"/>
  </p:sldMasterIdLst>
  <p:sldIdLst>
    <p:sldId id="261" r:id="rId4"/>
    <p:sldId id="276" r:id="rId5"/>
    <p:sldId id="257" r:id="rId6"/>
    <p:sldId id="262" r:id="rId7"/>
    <p:sldId id="263" r:id="rId8"/>
    <p:sldId id="265" r:id="rId9"/>
    <p:sldId id="268" r:id="rId10"/>
    <p:sldId id="267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0" r:id="rId20"/>
    <p:sldId id="277" r:id="rId21"/>
    <p:sldId id="27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8CFC3F-A987-4D44-8A93-5544952A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A359D4-9015-FB40-8B4E-0D2C7F07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594D90-209F-074C-8AAE-0E113B44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E92C916C-92E7-46FB-8209-180188A389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1" y="313578"/>
            <a:ext cx="5062330" cy="8278545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3A19EE94-301E-4F68-97AD-580AC773E5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9" name="矩形 6">
            <a:extLst>
              <a:ext uri="{FF2B5EF4-FFF2-40B4-BE49-F238E27FC236}">
                <a16:creationId xmlns:a16="http://schemas.microsoft.com/office/drawing/2014/main" id="{E910F7AB-FB21-40DB-9E6B-22FBDC9A7E22}"/>
              </a:ext>
            </a:extLst>
          </p:cNvPr>
          <p:cNvSpPr/>
          <p:nvPr/>
        </p:nvSpPr>
        <p:spPr>
          <a:xfrm>
            <a:off x="1571223" y="2268733"/>
            <a:ext cx="489397" cy="1878264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矩形 30">
            <a:extLst>
              <a:ext uri="{FF2B5EF4-FFF2-40B4-BE49-F238E27FC236}">
                <a16:creationId xmlns:a16="http://schemas.microsoft.com/office/drawing/2014/main" id="{1C3ADCFB-DE44-4FFE-A9A1-A06E96D2ADB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66368" y="6319529"/>
            <a:ext cx="186884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www.birentech.com</a:t>
            </a:r>
            <a:endParaRPr lang="zh-CN" altLang="en-US" sz="14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23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C25BCE-7652-9945-8AA2-4004832D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9EC08-D412-9C42-BA72-600109A4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17">
            <a:extLst>
              <a:ext uri="{FF2B5EF4-FFF2-40B4-BE49-F238E27FC236}">
                <a16:creationId xmlns:a16="http://schemas.microsoft.com/office/drawing/2014/main" id="{50D3138E-BD84-4EE2-BDF1-AE62BF9AA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-1"/>
            <a:ext cx="11150600" cy="6858001"/>
          </a:xfrm>
          <a:prstGeom prst="rect">
            <a:avLst/>
          </a:prstGeom>
        </p:spPr>
      </p:pic>
      <p:pic>
        <p:nvPicPr>
          <p:cNvPr id="19" name="图片 16">
            <a:extLst>
              <a:ext uri="{FF2B5EF4-FFF2-40B4-BE49-F238E27FC236}">
                <a16:creationId xmlns:a16="http://schemas.microsoft.com/office/drawing/2014/main" id="{D7043CD2-940C-4EB1-92B2-C06FDAC2A7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2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71192B0-CC9A-0A4C-BB52-FA6D3C4A6C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354772-4E0F-194B-AC36-566E533B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34" y="290682"/>
            <a:ext cx="8322425" cy="426925"/>
          </a:xfrm>
        </p:spPr>
        <p:txBody>
          <a:bodyPr>
            <a:noAutofit/>
          </a:bodyPr>
          <a:lstStyle>
            <a:lvl1pPr>
              <a:defRPr sz="28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612D7-2D0D-5941-B75F-4591359D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79" y="971719"/>
            <a:ext cx="11371161" cy="5205244"/>
          </a:xfrm>
        </p:spPr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smtClean="0"/>
              <a:t>编辑母版文本样式</a:t>
            </a:r>
          </a:p>
          <a:p>
            <a:pPr lvl="1"/>
            <a:r>
              <a:rPr kumimoji="1" lang="zh-CN" altLang="en-US" smtClean="0"/>
              <a:t>第二级</a:t>
            </a:r>
          </a:p>
          <a:p>
            <a:pPr lvl="2"/>
            <a:r>
              <a:rPr kumimoji="1" lang="zh-CN" altLang="en-US" smtClean="0"/>
              <a:t>第三级</a:t>
            </a:r>
          </a:p>
          <a:p>
            <a:pPr lvl="3"/>
            <a:r>
              <a:rPr kumimoji="1" lang="zh-CN" altLang="en-US" smtClean="0"/>
              <a:t>第四级</a:t>
            </a:r>
          </a:p>
          <a:p>
            <a:pPr lvl="4"/>
            <a:r>
              <a:rPr kumimoji="1" lang="zh-CN" altLang="en-US" smtClean="0"/>
              <a:t>第五级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930EA-152F-A746-AF4C-EB911EFD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4CC71-72AB-8349-8695-4C0E07B8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3CCE9-C7BC-2248-B759-F53EE7E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16">
            <a:extLst>
              <a:ext uri="{FF2B5EF4-FFF2-40B4-BE49-F238E27FC236}">
                <a16:creationId xmlns:a16="http://schemas.microsoft.com/office/drawing/2014/main" id="{E86286EE-1291-46FA-813F-B6D2F225D7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  <p:sp>
        <p:nvSpPr>
          <p:cNvPr id="10" name="矩形 3">
            <a:extLst>
              <a:ext uri="{FF2B5EF4-FFF2-40B4-BE49-F238E27FC236}">
                <a16:creationId xmlns:a16="http://schemas.microsoft.com/office/drawing/2014/main" id="{AFEA6C7C-4937-42C2-8A7E-CD640CAD7028}"/>
              </a:ext>
            </a:extLst>
          </p:cNvPr>
          <p:cNvSpPr/>
          <p:nvPr/>
        </p:nvSpPr>
        <p:spPr>
          <a:xfrm>
            <a:off x="316534" y="154704"/>
            <a:ext cx="152090" cy="662310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65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色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54772-4E0F-194B-AC36-566E533B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34" y="290682"/>
            <a:ext cx="8322425" cy="426925"/>
          </a:xfrm>
        </p:spPr>
        <p:txBody>
          <a:bodyPr>
            <a:noAutofit/>
          </a:bodyPr>
          <a:lstStyle>
            <a:lvl1pPr>
              <a:defRPr sz="28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612D7-2D0D-5941-B75F-4591359D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79" y="971719"/>
            <a:ext cx="11371161" cy="5205244"/>
          </a:xfrm>
        </p:spPr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smtClean="0"/>
              <a:t>编辑母版文本样式</a:t>
            </a:r>
          </a:p>
          <a:p>
            <a:pPr lvl="1"/>
            <a:r>
              <a:rPr kumimoji="1" lang="zh-CN" altLang="en-US" smtClean="0"/>
              <a:t>第二级</a:t>
            </a:r>
          </a:p>
          <a:p>
            <a:pPr lvl="2"/>
            <a:r>
              <a:rPr kumimoji="1" lang="zh-CN" altLang="en-US" smtClean="0"/>
              <a:t>第三级</a:t>
            </a:r>
          </a:p>
          <a:p>
            <a:pPr lvl="3"/>
            <a:r>
              <a:rPr kumimoji="1" lang="zh-CN" altLang="en-US" smtClean="0"/>
              <a:t>第四级</a:t>
            </a:r>
          </a:p>
          <a:p>
            <a:pPr lvl="4"/>
            <a:r>
              <a:rPr kumimoji="1" lang="zh-CN" altLang="en-US" smtClean="0"/>
              <a:t>第五级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930EA-152F-A746-AF4C-EB911EFD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4CC71-72AB-8349-8695-4C0E07B8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3CCE9-C7BC-2248-B759-F53EE7E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16">
            <a:extLst>
              <a:ext uri="{FF2B5EF4-FFF2-40B4-BE49-F238E27FC236}">
                <a16:creationId xmlns:a16="http://schemas.microsoft.com/office/drawing/2014/main" id="{E86286EE-1291-46FA-813F-B6D2F225D7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  <p:sp>
        <p:nvSpPr>
          <p:cNvPr id="10" name="矩形 3">
            <a:extLst>
              <a:ext uri="{FF2B5EF4-FFF2-40B4-BE49-F238E27FC236}">
                <a16:creationId xmlns:a16="http://schemas.microsoft.com/office/drawing/2014/main" id="{AFEA6C7C-4937-42C2-8A7E-CD640CAD7028}"/>
              </a:ext>
            </a:extLst>
          </p:cNvPr>
          <p:cNvSpPr/>
          <p:nvPr/>
        </p:nvSpPr>
        <p:spPr>
          <a:xfrm>
            <a:off x="316534" y="154704"/>
            <a:ext cx="152090" cy="662310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34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44427EB-1CA2-469D-B8D6-02BA7A954118}"/>
              </a:ext>
            </a:extLst>
          </p:cNvPr>
          <p:cNvSpPr txBox="1"/>
          <p:nvPr/>
        </p:nvSpPr>
        <p:spPr>
          <a:xfrm>
            <a:off x="-210160" y="1171462"/>
            <a:ext cx="1289621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800" b="1" spc="300" dirty="0">
                <a:solidFill>
                  <a:srgbClr val="F7F7F7"/>
                </a:solidFill>
                <a:cs typeface="+mn-ea"/>
                <a:sym typeface="+mn-lt"/>
              </a:rPr>
              <a:t>BIREN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673F4C69-739D-4FF6-B606-E10DB1BEA471}"/>
              </a:ext>
            </a:extLst>
          </p:cNvPr>
          <p:cNvSpPr txBox="1"/>
          <p:nvPr/>
        </p:nvSpPr>
        <p:spPr>
          <a:xfrm>
            <a:off x="1132548" y="2612198"/>
            <a:ext cx="982812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00" b="1" spc="300" dirty="0">
                <a:gradFill>
                  <a:gsLst>
                    <a:gs pos="0">
                      <a:srgbClr val="11B6E4"/>
                    </a:gs>
                    <a:gs pos="100000">
                      <a:srgbClr val="205CAC"/>
                    </a:gs>
                  </a:gsLst>
                  <a:lin ang="13200000" scaled="0"/>
                </a:gradFill>
                <a:cs typeface="+mn-ea"/>
                <a:sym typeface="+mn-lt"/>
              </a:rPr>
              <a:t>THANK YOU</a:t>
            </a:r>
          </a:p>
        </p:txBody>
      </p:sp>
      <p:pic>
        <p:nvPicPr>
          <p:cNvPr id="9" name="图片 27">
            <a:extLst>
              <a:ext uri="{FF2B5EF4-FFF2-40B4-BE49-F238E27FC236}">
                <a16:creationId xmlns:a16="http://schemas.microsoft.com/office/drawing/2014/main" id="{5CECD6A3-7387-437F-898F-DA9E1C856F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57022">
            <a:off x="7687811" y="1892995"/>
            <a:ext cx="5062330" cy="827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29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FDEC7-B25E-4A93-AB64-10CF091C6BAC}" type="datetime1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5759F-E270-46AF-BBBD-F20907FA53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52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4601-BB15-41C8-BD7E-724DDBAC7D34}" type="datetime1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5759F-E270-46AF-BBBD-F20907FA53A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893549" y="5955286"/>
            <a:ext cx="73494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02993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8CFC3F-A987-4D44-8A93-5544952A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A359D4-9015-FB40-8B4E-0D2C7F07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594D90-209F-074C-8AAE-0E113B44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E92C916C-92E7-46FB-8209-180188A389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1" y="313578"/>
            <a:ext cx="5062330" cy="8278545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3A19EE94-301E-4F68-97AD-580AC773E5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9" name="矩形 6">
            <a:extLst>
              <a:ext uri="{FF2B5EF4-FFF2-40B4-BE49-F238E27FC236}">
                <a16:creationId xmlns:a16="http://schemas.microsoft.com/office/drawing/2014/main" id="{E910F7AB-FB21-40DB-9E6B-22FBDC9A7E22}"/>
              </a:ext>
            </a:extLst>
          </p:cNvPr>
          <p:cNvSpPr/>
          <p:nvPr/>
        </p:nvSpPr>
        <p:spPr>
          <a:xfrm>
            <a:off x="1571223" y="2268733"/>
            <a:ext cx="489397" cy="1878264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矩形 30">
            <a:extLst>
              <a:ext uri="{FF2B5EF4-FFF2-40B4-BE49-F238E27FC236}">
                <a16:creationId xmlns:a16="http://schemas.microsoft.com/office/drawing/2014/main" id="{1C3ADCFB-DE44-4FFE-A9A1-A06E96D2ADB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66368" y="6319529"/>
            <a:ext cx="186884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www.birentech.com</a:t>
            </a:r>
            <a:endParaRPr lang="zh-CN" altLang="en-US" sz="14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87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C25BCE-7652-9945-8AA2-4004832D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9EC08-D412-9C42-BA72-600109A4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17">
            <a:extLst>
              <a:ext uri="{FF2B5EF4-FFF2-40B4-BE49-F238E27FC236}">
                <a16:creationId xmlns:a16="http://schemas.microsoft.com/office/drawing/2014/main" id="{50D3138E-BD84-4EE2-BDF1-AE62BF9AA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-1"/>
            <a:ext cx="11150600" cy="6858001"/>
          </a:xfrm>
          <a:prstGeom prst="rect">
            <a:avLst/>
          </a:prstGeom>
        </p:spPr>
      </p:pic>
      <p:pic>
        <p:nvPicPr>
          <p:cNvPr id="19" name="图片 16">
            <a:extLst>
              <a:ext uri="{FF2B5EF4-FFF2-40B4-BE49-F238E27FC236}">
                <a16:creationId xmlns:a16="http://schemas.microsoft.com/office/drawing/2014/main" id="{D7043CD2-940C-4EB1-92B2-C06FDAC2A7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5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71192B0-CC9A-0A4C-BB52-FA6D3C4A6C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354772-4E0F-194B-AC36-566E533B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34" y="290682"/>
            <a:ext cx="8322425" cy="426925"/>
          </a:xfrm>
        </p:spPr>
        <p:txBody>
          <a:bodyPr>
            <a:noAutofit/>
          </a:bodyPr>
          <a:lstStyle>
            <a:lvl1pPr>
              <a:defRPr sz="28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612D7-2D0D-5941-B75F-4591359D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79" y="971719"/>
            <a:ext cx="11371161" cy="5205244"/>
          </a:xfrm>
        </p:spPr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smtClean="0"/>
              <a:t>编辑母版文本样式</a:t>
            </a:r>
          </a:p>
          <a:p>
            <a:pPr lvl="1"/>
            <a:r>
              <a:rPr kumimoji="1" lang="zh-CN" altLang="en-US" smtClean="0"/>
              <a:t>第二级</a:t>
            </a:r>
          </a:p>
          <a:p>
            <a:pPr lvl="2"/>
            <a:r>
              <a:rPr kumimoji="1" lang="zh-CN" altLang="en-US" smtClean="0"/>
              <a:t>第三级</a:t>
            </a:r>
          </a:p>
          <a:p>
            <a:pPr lvl="3"/>
            <a:r>
              <a:rPr kumimoji="1" lang="zh-CN" altLang="en-US" smtClean="0"/>
              <a:t>第四级</a:t>
            </a:r>
          </a:p>
          <a:p>
            <a:pPr lvl="4"/>
            <a:r>
              <a:rPr kumimoji="1" lang="zh-CN" altLang="en-US" smtClean="0"/>
              <a:t>第五级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930EA-152F-A746-AF4C-EB911EFD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4CC71-72AB-8349-8695-4C0E07B8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3CCE9-C7BC-2248-B759-F53EE7E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16">
            <a:extLst>
              <a:ext uri="{FF2B5EF4-FFF2-40B4-BE49-F238E27FC236}">
                <a16:creationId xmlns:a16="http://schemas.microsoft.com/office/drawing/2014/main" id="{E86286EE-1291-46FA-813F-B6D2F225D7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  <p:sp>
        <p:nvSpPr>
          <p:cNvPr id="10" name="矩形 3">
            <a:extLst>
              <a:ext uri="{FF2B5EF4-FFF2-40B4-BE49-F238E27FC236}">
                <a16:creationId xmlns:a16="http://schemas.microsoft.com/office/drawing/2014/main" id="{AFEA6C7C-4937-42C2-8A7E-CD640CAD7028}"/>
              </a:ext>
            </a:extLst>
          </p:cNvPr>
          <p:cNvSpPr/>
          <p:nvPr/>
        </p:nvSpPr>
        <p:spPr>
          <a:xfrm>
            <a:off x="316534" y="154704"/>
            <a:ext cx="152090" cy="662310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40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色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54772-4E0F-194B-AC36-566E533B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34" y="290682"/>
            <a:ext cx="8322425" cy="426925"/>
          </a:xfrm>
        </p:spPr>
        <p:txBody>
          <a:bodyPr>
            <a:noAutofit/>
          </a:bodyPr>
          <a:lstStyle>
            <a:lvl1pPr>
              <a:defRPr sz="28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612D7-2D0D-5941-B75F-4591359D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79" y="971719"/>
            <a:ext cx="11371161" cy="5205244"/>
          </a:xfrm>
        </p:spPr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smtClean="0"/>
              <a:t>编辑母版文本样式</a:t>
            </a:r>
          </a:p>
          <a:p>
            <a:pPr lvl="1"/>
            <a:r>
              <a:rPr kumimoji="1" lang="zh-CN" altLang="en-US" smtClean="0"/>
              <a:t>第二级</a:t>
            </a:r>
          </a:p>
          <a:p>
            <a:pPr lvl="2"/>
            <a:r>
              <a:rPr kumimoji="1" lang="zh-CN" altLang="en-US" smtClean="0"/>
              <a:t>第三级</a:t>
            </a:r>
          </a:p>
          <a:p>
            <a:pPr lvl="3"/>
            <a:r>
              <a:rPr kumimoji="1" lang="zh-CN" altLang="en-US" smtClean="0"/>
              <a:t>第四级</a:t>
            </a:r>
          </a:p>
          <a:p>
            <a:pPr lvl="4"/>
            <a:r>
              <a:rPr kumimoji="1" lang="zh-CN" altLang="en-US" smtClean="0"/>
              <a:t>第五级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930EA-152F-A746-AF4C-EB911EFD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4CC71-72AB-8349-8695-4C0E07B8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3CCE9-C7BC-2248-B759-F53EE7E0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16">
            <a:extLst>
              <a:ext uri="{FF2B5EF4-FFF2-40B4-BE49-F238E27FC236}">
                <a16:creationId xmlns:a16="http://schemas.microsoft.com/office/drawing/2014/main" id="{E86286EE-1291-46FA-813F-B6D2F225D7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24" y="241478"/>
            <a:ext cx="1545984" cy="426925"/>
          </a:xfrm>
          <a:prstGeom prst="rect">
            <a:avLst/>
          </a:prstGeom>
        </p:spPr>
      </p:pic>
      <p:sp>
        <p:nvSpPr>
          <p:cNvPr id="10" name="矩形 3">
            <a:extLst>
              <a:ext uri="{FF2B5EF4-FFF2-40B4-BE49-F238E27FC236}">
                <a16:creationId xmlns:a16="http://schemas.microsoft.com/office/drawing/2014/main" id="{AFEA6C7C-4937-42C2-8A7E-CD640CAD7028}"/>
              </a:ext>
            </a:extLst>
          </p:cNvPr>
          <p:cNvSpPr/>
          <p:nvPr/>
        </p:nvSpPr>
        <p:spPr>
          <a:xfrm>
            <a:off x="316534" y="154704"/>
            <a:ext cx="152090" cy="662310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050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44427EB-1CA2-469D-B8D6-02BA7A954118}"/>
              </a:ext>
            </a:extLst>
          </p:cNvPr>
          <p:cNvSpPr txBox="1"/>
          <p:nvPr/>
        </p:nvSpPr>
        <p:spPr>
          <a:xfrm>
            <a:off x="-210160" y="1171462"/>
            <a:ext cx="1289621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800" b="1" spc="300" dirty="0">
                <a:solidFill>
                  <a:srgbClr val="F7F7F7"/>
                </a:solidFill>
                <a:cs typeface="+mn-ea"/>
                <a:sym typeface="+mn-lt"/>
              </a:rPr>
              <a:t>BIREN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673F4C69-739D-4FF6-B606-E10DB1BEA471}"/>
              </a:ext>
            </a:extLst>
          </p:cNvPr>
          <p:cNvSpPr txBox="1"/>
          <p:nvPr/>
        </p:nvSpPr>
        <p:spPr>
          <a:xfrm>
            <a:off x="1132548" y="2612198"/>
            <a:ext cx="982812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00" b="1" spc="300" dirty="0">
                <a:gradFill>
                  <a:gsLst>
                    <a:gs pos="0">
                      <a:srgbClr val="11B6E4"/>
                    </a:gs>
                    <a:gs pos="100000">
                      <a:srgbClr val="205CAC"/>
                    </a:gs>
                  </a:gsLst>
                  <a:lin ang="13200000" scaled="0"/>
                </a:gradFill>
                <a:cs typeface="+mn-ea"/>
                <a:sym typeface="+mn-lt"/>
              </a:rPr>
              <a:t>THANK YOU</a:t>
            </a:r>
          </a:p>
        </p:txBody>
      </p:sp>
      <p:pic>
        <p:nvPicPr>
          <p:cNvPr id="9" name="图片 27">
            <a:extLst>
              <a:ext uri="{FF2B5EF4-FFF2-40B4-BE49-F238E27FC236}">
                <a16:creationId xmlns:a16="http://schemas.microsoft.com/office/drawing/2014/main" id="{5CECD6A3-7387-437F-898F-DA9E1C856F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57022">
            <a:off x="7687811" y="1892995"/>
            <a:ext cx="5062330" cy="827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B00A2-90AB-F746-BD79-120D41FF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DF4FE-865B-864B-8626-BA4FF0251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76C17-A027-AF4F-855C-65C1C006B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38475-9065-7349-B17B-9E35D149A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A01C0-E960-5E4D-8B07-75E91A64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E7513-697F-4371-9EB9-18196871542F}" type="datetime1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759F-E270-46AF-BBBD-F20907FA53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75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hdr="0" ftr="0" dt="0"/>
  <p:txStyles>
    <p:titleStyle>
      <a:lvl1pPr algn="l" defTabSz="866943" rtl="0" eaLnBrk="1" latinLnBrk="0" hangingPunct="1">
        <a:lnSpc>
          <a:spcPct val="90000"/>
        </a:lnSpc>
        <a:spcBef>
          <a:spcPct val="0"/>
        </a:spcBef>
        <a:buNone/>
        <a:defRPr sz="41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736" indent="-216736" algn="l" defTabSz="866943" rtl="0" eaLnBrk="1" latinLnBrk="0" hangingPunct="1">
        <a:lnSpc>
          <a:spcPct val="90000"/>
        </a:lnSpc>
        <a:spcBef>
          <a:spcPts val="94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07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678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3pPr>
      <a:lvl4pPr marL="1517150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950621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384092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817564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251035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684506" indent="-216736" algn="l" defTabSz="866943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1pPr>
      <a:lvl2pPr marL="433471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66943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3pPr>
      <a:lvl4pPr marL="1300414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733885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167357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600828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034299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467771" algn="l" defTabSz="866943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B00A2-90AB-F746-BD79-120D41FF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DF4FE-865B-864B-8626-BA4FF0251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76C17-A027-AF4F-855C-65C1C006B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501DC-F1ED-4349-96F5-298D0B365330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38475-9065-7349-B17B-9E35D149A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A01C0-E960-5E4D-8B07-75E91A647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A30D6-3BD9-42A6-BBE3-4FE88DE73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35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01.birentech.com/browse/BRHW-6105" TargetMode="Externa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01.birentech.com/browse/BSD-10542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矩形 30">
            <a:extLst>
              <a:ext uri="{FF2B5EF4-FFF2-40B4-BE49-F238E27FC236}">
                <a16:creationId xmlns:a16="http://schemas.microsoft.com/office/drawing/2014/main" id="{4BCF37A9-51A3-44C3-8EF5-929A1E8ED90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174639" y="4005865"/>
            <a:ext cx="27603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5F2188D-72B0-48DA-B8B4-BDBADC8536E9}"/>
              </a:ext>
            </a:extLst>
          </p:cNvPr>
          <p:cNvSpPr txBox="1"/>
          <p:nvPr/>
        </p:nvSpPr>
        <p:spPr>
          <a:xfrm>
            <a:off x="2241007" y="2240312"/>
            <a:ext cx="7087348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/>
            <a:r>
              <a:rPr lang="en-US" altLang="zh-CN" sz="4800" dirty="0"/>
              <a:t>BR10X P2P SUBSYS bandwidth </a:t>
            </a:r>
            <a:r>
              <a:rPr lang="en-US" altLang="zh-CN" sz="4800" dirty="0" smtClean="0"/>
              <a:t>issue summary</a:t>
            </a:r>
            <a:endParaRPr kumimoji="0" lang="en-US" altLang="zh-CN" sz="4800" b="1" i="0" u="none" strike="noStrike" kern="1200" cap="none" spc="20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CF1168-4070-EE4B-8AD5-93C42240B0C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4341091" y="4221018"/>
            <a:ext cx="4396509" cy="10367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smtClean="0"/>
              <a:t>DP LIU</a:t>
            </a:r>
          </a:p>
          <a:p>
            <a:pPr marL="0" indent="0">
              <a:buNone/>
            </a:pPr>
            <a:r>
              <a:rPr lang="en-US" altLang="zh-CN" smtClean="0"/>
              <a:t>2024/12/20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632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One Team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 smtClean="0"/>
              <a:t>Li Yun</a:t>
            </a:r>
            <a:r>
              <a:rPr lang="zh-CN" altLang="en-US" sz="2000" dirty="0" smtClean="0"/>
              <a:t>：负责搭建</a:t>
            </a:r>
            <a:r>
              <a:rPr lang="en-US" altLang="zh-CN" sz="2000" dirty="0" err="1" smtClean="0"/>
              <a:t>Verilator</a:t>
            </a:r>
            <a:r>
              <a:rPr lang="zh-CN" altLang="en-US" sz="2000" dirty="0" smtClean="0"/>
              <a:t>仿真平台，并且调整</a:t>
            </a:r>
            <a:r>
              <a:rPr lang="en-US" altLang="zh-CN" sz="2000" dirty="0" smtClean="0"/>
              <a:t>P2P</a:t>
            </a:r>
            <a:r>
              <a:rPr lang="zh-CN" altLang="en-US" sz="2000" dirty="0" smtClean="0"/>
              <a:t>参数，使其与实测带宽相当；</a:t>
            </a:r>
            <a:endParaRPr lang="en-US" altLang="zh-CN" sz="2000" dirty="0" smtClean="0"/>
          </a:p>
          <a:p>
            <a:r>
              <a:rPr lang="en-US" altLang="zh-CN" sz="2000" b="1" dirty="0" smtClean="0"/>
              <a:t>Qiu Yongjie</a:t>
            </a:r>
            <a:r>
              <a:rPr lang="zh-CN" altLang="en-US" sz="2000" dirty="0" smtClean="0"/>
              <a:t>：在</a:t>
            </a:r>
            <a:r>
              <a:rPr lang="en-US" altLang="zh-CN" sz="2000" dirty="0" err="1" smtClean="0"/>
              <a:t>Verilator</a:t>
            </a:r>
            <a:r>
              <a:rPr lang="zh-CN" altLang="en-US" sz="2000" dirty="0" smtClean="0"/>
              <a:t>平台上运行</a:t>
            </a:r>
            <a:r>
              <a:rPr lang="en-US" altLang="zh-CN" sz="2000" dirty="0" smtClean="0"/>
              <a:t>SCCL</a:t>
            </a:r>
            <a:r>
              <a:rPr lang="zh-CN" altLang="en-US" sz="2000" dirty="0" smtClean="0"/>
              <a:t>测试，抓取波形，提供给</a:t>
            </a:r>
            <a:r>
              <a:rPr lang="en-US" altLang="zh-CN" sz="2000" dirty="0" smtClean="0"/>
              <a:t>DV/DE</a:t>
            </a:r>
            <a:r>
              <a:rPr lang="zh-CN" altLang="en-US" sz="2000" dirty="0" smtClean="0"/>
              <a:t>分析；</a:t>
            </a:r>
            <a:endParaRPr lang="en-US" altLang="zh-CN" sz="2000" dirty="0" smtClean="0"/>
          </a:p>
          <a:p>
            <a:r>
              <a:rPr lang="en-US" altLang="zh-CN" sz="2000" b="1" dirty="0"/>
              <a:t>Li </a:t>
            </a:r>
            <a:r>
              <a:rPr lang="en-US" altLang="zh-CN" sz="2000" b="1" dirty="0" smtClean="0"/>
              <a:t>Yuzhe</a:t>
            </a:r>
            <a:r>
              <a:rPr lang="zh-CN" altLang="en-US" sz="2000" dirty="0" smtClean="0"/>
              <a:t>，</a:t>
            </a:r>
            <a:r>
              <a:rPr lang="en-US" altLang="zh-CN" sz="2000" b="1" dirty="0" smtClean="0"/>
              <a:t>Zhong </a:t>
            </a:r>
            <a:r>
              <a:rPr lang="en-US" altLang="zh-CN" sz="2000" b="1" dirty="0" err="1" smtClean="0"/>
              <a:t>Zhibin</a:t>
            </a:r>
            <a:r>
              <a:rPr lang="zh-CN" altLang="en-US" sz="2000" dirty="0" smtClean="0"/>
              <a:t>，</a:t>
            </a:r>
            <a:r>
              <a:rPr lang="en-US" altLang="zh-CN" sz="2000" b="1" dirty="0" smtClean="0"/>
              <a:t>Xu Yifan</a:t>
            </a:r>
            <a:r>
              <a:rPr lang="zh-CN" altLang="en-US" sz="2000" dirty="0" smtClean="0"/>
              <a:t>：提供了</a:t>
            </a:r>
            <a:r>
              <a:rPr lang="en-US" altLang="zh-CN" sz="2000" dirty="0" smtClean="0"/>
              <a:t>P2P </a:t>
            </a:r>
            <a:r>
              <a:rPr lang="en-US" altLang="zh-CN" sz="2000" dirty="0" err="1" smtClean="0"/>
              <a:t>subsys</a:t>
            </a:r>
            <a:r>
              <a:rPr lang="zh-CN" altLang="en-US" sz="2000" dirty="0" smtClean="0"/>
              <a:t>模块图，分析了波形，并且给出了</a:t>
            </a:r>
            <a:r>
              <a:rPr lang="en-US" altLang="zh-CN" sz="2000" dirty="0"/>
              <a:t>r</a:t>
            </a:r>
            <a:r>
              <a:rPr lang="en-US" altLang="zh-CN" sz="2000" dirty="0" smtClean="0"/>
              <a:t>oot cause</a:t>
            </a:r>
            <a:r>
              <a:rPr lang="zh-CN" altLang="en-US" sz="2000" dirty="0" smtClean="0"/>
              <a:t>分析结果；</a:t>
            </a:r>
            <a:endParaRPr lang="en-US" altLang="zh-CN" sz="2000" dirty="0" smtClean="0"/>
          </a:p>
          <a:p>
            <a:r>
              <a:rPr lang="en-US" altLang="zh-CN" sz="2000" b="1" dirty="0" smtClean="0"/>
              <a:t>Cui Xiaozhi</a:t>
            </a:r>
            <a:r>
              <a:rPr lang="zh-CN" altLang="en-US" sz="2000" dirty="0" smtClean="0"/>
              <a:t>，</a:t>
            </a:r>
            <a:r>
              <a:rPr lang="en-US" altLang="zh-CN" sz="2000" b="1" dirty="0" smtClean="0"/>
              <a:t>Dai Jinrui</a:t>
            </a:r>
            <a:r>
              <a:rPr lang="zh-CN" altLang="en-US" sz="2000" dirty="0" smtClean="0"/>
              <a:t>，</a:t>
            </a:r>
            <a:r>
              <a:rPr lang="en-US" altLang="zh-CN" sz="2000" b="1" dirty="0" smtClean="0"/>
              <a:t>Yan He</a:t>
            </a:r>
            <a:r>
              <a:rPr lang="zh-CN" altLang="en-US" sz="2000" dirty="0" smtClean="0"/>
              <a:t>：负责搭建了</a:t>
            </a:r>
            <a:r>
              <a:rPr lang="en-US" altLang="zh-CN" sz="2000" dirty="0" smtClean="0"/>
              <a:t>BR166 Silicon</a:t>
            </a:r>
            <a:r>
              <a:rPr lang="zh-CN" altLang="en-US" sz="2000" dirty="0" smtClean="0"/>
              <a:t>平台，并且提供了</a:t>
            </a:r>
            <a:r>
              <a:rPr lang="en-US" altLang="zh-CN" sz="2000" dirty="0" smtClean="0"/>
              <a:t>port 9</a:t>
            </a:r>
            <a:r>
              <a:rPr lang="zh-CN" altLang="en-US" sz="2000" dirty="0" smtClean="0"/>
              <a:t>的铜缆互连；</a:t>
            </a:r>
            <a:endParaRPr lang="en-US" altLang="zh-CN" sz="2000" dirty="0" smtClean="0"/>
          </a:p>
          <a:p>
            <a:r>
              <a:rPr lang="en-US" altLang="zh-CN" sz="2000" b="1" dirty="0" smtClean="0"/>
              <a:t>Lv Enkui</a:t>
            </a:r>
            <a:r>
              <a:rPr lang="zh-CN" altLang="en-US" sz="2000" dirty="0" smtClean="0"/>
              <a:t>：基于</a:t>
            </a:r>
            <a:r>
              <a:rPr lang="en-US" altLang="zh-CN" sz="2000" dirty="0" smtClean="0"/>
              <a:t>BR166 UBB V1</a:t>
            </a:r>
            <a:r>
              <a:rPr lang="zh-CN" altLang="en-US" sz="2000" dirty="0" smtClean="0"/>
              <a:t>拓扑，编写了</a:t>
            </a:r>
            <a:r>
              <a:rPr lang="en-US" altLang="zh-CN" sz="2000" dirty="0" err="1" smtClean="0"/>
              <a:t>Diag</a:t>
            </a:r>
            <a:r>
              <a:rPr lang="zh-CN" altLang="en-US" sz="2000" dirty="0" smtClean="0"/>
              <a:t>测试用例，并做了多个实验；</a:t>
            </a:r>
            <a:endParaRPr lang="en-US" altLang="zh-CN" sz="2000" dirty="0" smtClean="0"/>
          </a:p>
          <a:p>
            <a:r>
              <a:rPr lang="en-US" altLang="zh-CN" sz="2000" b="1" dirty="0" smtClean="0"/>
              <a:t>Liu </a:t>
            </a:r>
            <a:r>
              <a:rPr lang="en-US" altLang="zh-CN" sz="2000" b="1" dirty="0" err="1" smtClean="0"/>
              <a:t>Dapeng</a:t>
            </a:r>
            <a:r>
              <a:rPr lang="zh-CN" altLang="en-US" sz="2000" dirty="0" smtClean="0"/>
              <a:t>：设计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编写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运行了多个实验，整理了本文档，给出了使用建议；</a:t>
            </a:r>
            <a:endParaRPr lang="en-US" altLang="zh-CN" sz="2000" dirty="0" smtClean="0"/>
          </a:p>
          <a:p>
            <a:r>
              <a:rPr lang="en-US" altLang="zh-CN" sz="2000" b="1" dirty="0" smtClean="0"/>
              <a:t>Juice Wang</a:t>
            </a:r>
            <a:r>
              <a:rPr lang="zh-CN" altLang="en-US" sz="2000" b="1" dirty="0" smtClean="0"/>
              <a:t>：</a:t>
            </a:r>
            <a:r>
              <a:rPr lang="zh-CN" altLang="en-US" sz="2000" dirty="0" smtClean="0"/>
              <a:t>作为</a:t>
            </a:r>
            <a:r>
              <a:rPr lang="en-US" altLang="zh-CN" sz="2000" dirty="0" smtClean="0"/>
              <a:t>PM</a:t>
            </a:r>
            <a:r>
              <a:rPr lang="zh-CN" altLang="en-US" sz="2000" dirty="0" smtClean="0"/>
              <a:t>，出色地协调了多个团队</a:t>
            </a:r>
            <a:r>
              <a:rPr lang="en-US" altLang="zh-CN" sz="2000" dirty="0" smtClean="0"/>
              <a:t>co-work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各相关部门</a:t>
            </a:r>
            <a:r>
              <a:rPr lang="en-US" altLang="zh-CN" sz="2000" dirty="0" smtClean="0"/>
              <a:t>M/M-1</a:t>
            </a:r>
            <a:r>
              <a:rPr lang="zh-CN" altLang="en-US" sz="2000" dirty="0" smtClean="0"/>
              <a:t>领导：明确项目优先级，从</a:t>
            </a:r>
            <a:r>
              <a:rPr lang="en-US" altLang="zh-CN" sz="2000" dirty="0" smtClean="0"/>
              <a:t>BR200</a:t>
            </a:r>
            <a:r>
              <a:rPr lang="zh-CN" altLang="en-US" sz="2000" dirty="0" smtClean="0"/>
              <a:t>项目中抽调人员，支持本项工作；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6546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zh-CN" altLang="en-US" sz="2000" dirty="0" smtClean="0"/>
              <a:t>为什么</a:t>
            </a:r>
            <a:r>
              <a:rPr lang="en-US" altLang="zh-CN" sz="2000" dirty="0" smtClean="0"/>
              <a:t>P2P</a:t>
            </a:r>
            <a:r>
              <a:rPr lang="zh-CN" altLang="en-US" sz="2000" dirty="0" smtClean="0"/>
              <a:t>通信的时候，</a:t>
            </a:r>
            <a:r>
              <a:rPr lang="en-US" altLang="zh-CN" sz="2000" dirty="0"/>
              <a:t>HW</a:t>
            </a:r>
            <a:r>
              <a:rPr lang="zh-CN" altLang="en-US" sz="2000" dirty="0" smtClean="0"/>
              <a:t>推荐使用</a:t>
            </a:r>
            <a:r>
              <a:rPr lang="en-US" altLang="zh-CN" sz="2000" dirty="0"/>
              <a:t>R</a:t>
            </a:r>
            <a:r>
              <a:rPr lang="en-US" altLang="zh-CN" sz="2000" dirty="0" smtClean="0"/>
              <a:t>ead</a:t>
            </a:r>
            <a:r>
              <a:rPr lang="zh-CN" altLang="en-US" sz="2000" dirty="0" smtClean="0"/>
              <a:t>而不是</a:t>
            </a:r>
            <a:r>
              <a:rPr lang="en-US" altLang="zh-CN" sz="2000" dirty="0" smtClean="0"/>
              <a:t>Write</a:t>
            </a:r>
            <a:r>
              <a:rPr lang="zh-CN" altLang="en-US" sz="2000" dirty="0"/>
              <a:t>；</a:t>
            </a:r>
            <a:endParaRPr lang="en-US" altLang="zh-CN" sz="2000" dirty="0" smtClean="0"/>
          </a:p>
          <a:p>
            <a:pPr fontAlgn="ctr"/>
            <a:r>
              <a:rPr lang="en-US" altLang="zh-CN" sz="2000" dirty="0" smtClean="0"/>
              <a:t>NIC</a:t>
            </a:r>
            <a:r>
              <a:rPr lang="zh-CN" altLang="en-US" sz="2000" dirty="0" smtClean="0"/>
              <a:t>读写带宽不达预期；</a:t>
            </a:r>
            <a:endParaRPr lang="en-US" altLang="zh-CN" sz="2000" dirty="0" smtClean="0"/>
          </a:p>
          <a:p>
            <a:pPr fontAlgn="ctr"/>
            <a:r>
              <a:rPr lang="en-US" altLang="zh-CN" sz="2000" dirty="0" smtClean="0"/>
              <a:t>PCIE</a:t>
            </a:r>
            <a:r>
              <a:rPr lang="zh-CN" altLang="en-US" sz="2000" dirty="0" smtClean="0"/>
              <a:t>多</a:t>
            </a:r>
            <a:r>
              <a:rPr lang="zh-CN" altLang="en-US" sz="2000" dirty="0"/>
              <a:t>打</a:t>
            </a:r>
            <a:r>
              <a:rPr lang="zh-CN" altLang="en-US" sz="2000" dirty="0" smtClean="0"/>
              <a:t>一或者多</a:t>
            </a:r>
            <a:r>
              <a:rPr lang="en-US" altLang="zh-CN" sz="2000" dirty="0" smtClean="0"/>
              <a:t>QP</a:t>
            </a:r>
            <a:r>
              <a:rPr lang="zh-CN" altLang="en-US" sz="2000" dirty="0" smtClean="0"/>
              <a:t>并行写</a:t>
            </a:r>
            <a:r>
              <a:rPr lang="en-US" altLang="zh-CN" sz="2000" dirty="0" smtClean="0"/>
              <a:t>GPU</a:t>
            </a:r>
            <a:r>
              <a:rPr lang="zh-CN" altLang="en-US" sz="2000" dirty="0" smtClean="0"/>
              <a:t>卡带宽</a:t>
            </a:r>
            <a:r>
              <a:rPr lang="zh-CN" altLang="en-US" sz="2000" dirty="0"/>
              <a:t>低的</a:t>
            </a:r>
            <a:r>
              <a:rPr lang="zh-CN" altLang="en-US" sz="2000" dirty="0" smtClean="0"/>
              <a:t>原因；</a:t>
            </a:r>
            <a:endParaRPr lang="en-US" altLang="zh-CN" sz="2000" dirty="0" smtClean="0"/>
          </a:p>
          <a:p>
            <a:pPr fontAlgn="ctr"/>
            <a:r>
              <a:rPr lang="en-US" altLang="zh-CN" sz="2000" dirty="0" err="1"/>
              <a:t>BLink</a:t>
            </a:r>
            <a:r>
              <a:rPr lang="zh-CN" altLang="en-US" sz="2000" dirty="0"/>
              <a:t>互联带宽，在不同的拓扑下，物理链路是好的，为什么仍会碰到各种带宽问题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fontAlgn="ctr"/>
            <a:r>
              <a:rPr lang="en-US" altLang="zh-CN" sz="2000" dirty="0" smtClean="0"/>
              <a:t>BR106E P2P</a:t>
            </a:r>
            <a:r>
              <a:rPr lang="zh-CN" altLang="en-US" sz="2000" dirty="0" smtClean="0"/>
              <a:t>接南向</a:t>
            </a:r>
            <a:r>
              <a:rPr lang="en-US" altLang="zh-CN" sz="2000" dirty="0" smtClean="0"/>
              <a:t>switch</a:t>
            </a:r>
            <a:r>
              <a:rPr lang="zh-CN" altLang="en-US" sz="2000" dirty="0" smtClean="0"/>
              <a:t>后，碰到的带宽问题；</a:t>
            </a:r>
            <a:endParaRPr lang="en-US" altLang="zh-CN" sz="2000" dirty="0" smtClean="0"/>
          </a:p>
          <a:p>
            <a:pPr fontAlgn="ctr"/>
            <a:r>
              <a:rPr lang="en-US" altLang="zh-CN" sz="2000" dirty="0" smtClean="0"/>
              <a:t>BR166 V1</a:t>
            </a:r>
            <a:r>
              <a:rPr lang="zh-CN" altLang="en-US" sz="2000" dirty="0" smtClean="0"/>
              <a:t>拓扑，</a:t>
            </a:r>
            <a:r>
              <a:rPr lang="en-US" altLang="zh-CN" sz="2000" dirty="0" err="1" smtClean="0"/>
              <a:t>BLink</a:t>
            </a:r>
            <a:r>
              <a:rPr lang="zh-CN" altLang="en-US" sz="2000" dirty="0" smtClean="0"/>
              <a:t>遇到的带宽问题；</a:t>
            </a:r>
            <a:endParaRPr lang="en-US" altLang="zh-CN" sz="2000" dirty="0" smtClean="0"/>
          </a:p>
          <a:p>
            <a:pPr fontAlgn="ctr"/>
            <a:r>
              <a:rPr lang="en-US" altLang="zh-CN" sz="2000" dirty="0" smtClean="0"/>
              <a:t>BR166 V2</a:t>
            </a:r>
            <a:r>
              <a:rPr lang="zh-CN" altLang="en-US" sz="2000" dirty="0" smtClean="0"/>
              <a:t>拓扑，解决了什么问题，使用上仍存在哪些限制；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53426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P2PX16_SUBSYS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470" y="851477"/>
            <a:ext cx="7167052" cy="525722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72520" y="6242570"/>
            <a:ext cx="18790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050" dirty="0" smtClean="0"/>
              <a:t>箭头代表</a:t>
            </a:r>
            <a:r>
              <a:rPr lang="en-US" altLang="zh-CN" sz="1050" dirty="0"/>
              <a:t>R</a:t>
            </a:r>
            <a:r>
              <a:rPr lang="en-US" altLang="zh-CN" sz="1050" dirty="0" smtClean="0"/>
              <a:t>equest</a:t>
            </a:r>
            <a:r>
              <a:rPr lang="zh-CN" altLang="en-US" sz="1050" dirty="0" smtClean="0"/>
              <a:t>方向；</a:t>
            </a:r>
            <a:endParaRPr lang="en-US" altLang="zh-CN" sz="1050" dirty="0" smtClean="0"/>
          </a:p>
        </p:txBody>
      </p:sp>
    </p:spTree>
    <p:extLst>
      <p:ext uri="{BB962C8B-B14F-4D97-AF65-F5344CB8AC3E}">
        <p14:creationId xmlns:p14="http://schemas.microsoft.com/office/powerpoint/2010/main" val="314334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P2PX8_SUBSYS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67" y="585359"/>
            <a:ext cx="4317999" cy="61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4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PCIE/P2P Write</a:t>
            </a:r>
            <a:r>
              <a:rPr lang="zh-CN" altLang="en-US" dirty="0" smtClean="0"/>
              <a:t>带宽低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470" y="851477"/>
            <a:ext cx="6775510" cy="4970016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1794077" y="1018572"/>
            <a:ext cx="1" cy="4091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41287" y="5988588"/>
            <a:ext cx="6775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 smtClean="0"/>
              <a:t>相同</a:t>
            </a:r>
            <a:r>
              <a:rPr lang="en-US" altLang="zh-CN" sz="1000" dirty="0" smtClean="0"/>
              <a:t>PCIE switch</a:t>
            </a:r>
            <a:r>
              <a:rPr lang="zh-CN" altLang="en-US" sz="1000" dirty="0" smtClean="0"/>
              <a:t>下，</a:t>
            </a:r>
            <a:r>
              <a:rPr lang="en-US" altLang="zh-CN" sz="1000" dirty="0" smtClean="0"/>
              <a:t>NIC</a:t>
            </a:r>
            <a:r>
              <a:rPr lang="zh-CN" altLang="en-US" sz="1000" dirty="0" smtClean="0"/>
              <a:t>网卡，单纯写</a:t>
            </a:r>
            <a:r>
              <a:rPr lang="en-US" altLang="zh-CN" sz="1000" dirty="0" smtClean="0"/>
              <a:t>GPU</a:t>
            </a:r>
            <a:r>
              <a:rPr lang="zh-CN" altLang="en-US" sz="1000" dirty="0" smtClean="0"/>
              <a:t>卡的带宽不符合预期；</a:t>
            </a:r>
            <a:endParaRPr lang="en-US" altLang="zh-CN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相同</a:t>
            </a:r>
            <a:r>
              <a:rPr lang="en-US" altLang="zh-CN" sz="1000" dirty="0"/>
              <a:t>PCIE switch</a:t>
            </a:r>
            <a:r>
              <a:rPr lang="zh-CN" altLang="en-US" sz="1000" dirty="0"/>
              <a:t>下，</a:t>
            </a:r>
            <a:r>
              <a:rPr lang="en-US" altLang="zh-CN" sz="1000" dirty="0"/>
              <a:t>NIC</a:t>
            </a:r>
            <a:r>
              <a:rPr lang="zh-CN" altLang="en-US" sz="1000" dirty="0"/>
              <a:t>网卡，</a:t>
            </a:r>
            <a:r>
              <a:rPr lang="zh-CN" altLang="en-US" sz="1000" dirty="0" smtClean="0"/>
              <a:t>单纯读</a:t>
            </a:r>
            <a:r>
              <a:rPr lang="en-US" altLang="zh-CN" sz="1000" dirty="0" smtClean="0"/>
              <a:t>GPU</a:t>
            </a:r>
            <a:r>
              <a:rPr lang="zh-CN" altLang="en-US" sz="1000" dirty="0"/>
              <a:t>卡的</a:t>
            </a:r>
            <a:r>
              <a:rPr lang="zh-CN" altLang="en-US" sz="1000" dirty="0" smtClean="0"/>
              <a:t>带宽符合</a:t>
            </a:r>
            <a:r>
              <a:rPr lang="zh-CN" altLang="en-US" sz="1000" dirty="0"/>
              <a:t>预期；</a:t>
            </a:r>
            <a:endParaRPr lang="en-US" altLang="zh-C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dirty="0"/>
              <a:t>相同</a:t>
            </a:r>
            <a:r>
              <a:rPr lang="en-US" altLang="zh-CN" sz="1000" dirty="0"/>
              <a:t>PCIE switch</a:t>
            </a:r>
            <a:r>
              <a:rPr lang="zh-CN" altLang="en-US" sz="1000" dirty="0"/>
              <a:t>下，</a:t>
            </a:r>
            <a:r>
              <a:rPr lang="en-US" altLang="zh-CN" sz="1000" dirty="0"/>
              <a:t>NIC</a:t>
            </a:r>
            <a:r>
              <a:rPr lang="zh-CN" altLang="en-US" sz="1000" dirty="0"/>
              <a:t>网卡</a:t>
            </a:r>
            <a:r>
              <a:rPr lang="zh-CN" altLang="en-US" sz="1000" dirty="0" smtClean="0"/>
              <a:t>，并行读写</a:t>
            </a:r>
            <a:r>
              <a:rPr lang="en-US" altLang="zh-CN" sz="1000" dirty="0"/>
              <a:t>GPU</a:t>
            </a:r>
            <a:r>
              <a:rPr lang="zh-CN" altLang="en-US" sz="1000" dirty="0"/>
              <a:t>卡的带宽不符合预期；</a:t>
            </a:r>
            <a:endParaRPr lang="en-US" altLang="zh-C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 dirty="0" smtClean="0"/>
          </a:p>
        </p:txBody>
      </p:sp>
    </p:spTree>
    <p:extLst>
      <p:ext uri="{BB962C8B-B14F-4D97-AF65-F5344CB8AC3E}">
        <p14:creationId xmlns:p14="http://schemas.microsoft.com/office/powerpoint/2010/main" val="25258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PCIE/P2P </a:t>
            </a:r>
            <a:r>
              <a:rPr lang="en-US" altLang="zh-CN" dirty="0" smtClean="0"/>
              <a:t>Write</a:t>
            </a:r>
            <a:r>
              <a:rPr lang="zh-CN" altLang="en-US" dirty="0" smtClean="0"/>
              <a:t>带宽低原因分析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600" b="1" dirty="0" smtClean="0"/>
              <a:t>PCIE/P2P</a:t>
            </a:r>
            <a:r>
              <a:rPr lang="zh-CN" altLang="en-US" sz="1600" b="1" dirty="0" smtClean="0"/>
              <a:t>，</a:t>
            </a:r>
            <a:r>
              <a:rPr lang="zh-CN" altLang="en-US" sz="1600" b="1" dirty="0"/>
              <a:t>单独</a:t>
            </a:r>
            <a:r>
              <a:rPr lang="zh-CN" altLang="en-US" sz="1600" b="1" dirty="0" smtClean="0"/>
              <a:t>写</a:t>
            </a:r>
            <a:r>
              <a:rPr lang="en-US" altLang="zh-CN" sz="1600" b="1" dirty="0"/>
              <a:t>GPU</a:t>
            </a:r>
            <a:r>
              <a:rPr lang="zh-CN" altLang="en-US" sz="1600" b="1" dirty="0"/>
              <a:t>卡的带宽不符合</a:t>
            </a:r>
            <a:r>
              <a:rPr lang="zh-CN" altLang="en-US" sz="1600" b="1" dirty="0" smtClean="0"/>
              <a:t>预期</a:t>
            </a:r>
            <a:r>
              <a:rPr lang="zh-CN" altLang="en-US" sz="1600" b="1" dirty="0"/>
              <a:t>：</a:t>
            </a:r>
            <a:endParaRPr lang="en-US" altLang="zh-CN" sz="1600" b="1" dirty="0" smtClean="0"/>
          </a:p>
          <a:p>
            <a:pPr marL="171450" indent="-171450"/>
            <a:r>
              <a:rPr lang="zh-CN" altLang="en-US" sz="1600" dirty="0" smtClean="0"/>
              <a:t>按照</a:t>
            </a:r>
            <a:r>
              <a:rPr lang="en-US" altLang="zh-CN" sz="1600" dirty="0" smtClean="0"/>
              <a:t>3rd party PCIE Controller</a:t>
            </a:r>
            <a:r>
              <a:rPr lang="zh-CN" altLang="en-US" sz="1600" dirty="0" smtClean="0"/>
              <a:t>的设计，</a:t>
            </a:r>
            <a:r>
              <a:rPr lang="en-US" altLang="zh-CN" sz="1600" dirty="0" smtClean="0"/>
              <a:t> write</a:t>
            </a:r>
            <a:r>
              <a:rPr lang="zh-CN" altLang="en-US" sz="1600" dirty="0" smtClean="0"/>
              <a:t>请求使用</a:t>
            </a:r>
            <a:r>
              <a:rPr lang="en-US" altLang="zh-CN" sz="1600" dirty="0"/>
              <a:t>same id = 0</a:t>
            </a:r>
            <a:r>
              <a:rPr lang="zh-CN" altLang="zh-CN" sz="1600" dirty="0" smtClean="0"/>
              <a:t>，</a:t>
            </a:r>
            <a:r>
              <a:rPr lang="zh-CN" altLang="en-US" sz="1600" dirty="0" smtClean="0"/>
              <a:t>送往</a:t>
            </a:r>
            <a:r>
              <a:rPr lang="en-US" altLang="zh-CN" sz="1600" dirty="0" err="1" smtClean="0"/>
              <a:t>subnoc</a:t>
            </a:r>
            <a:r>
              <a:rPr lang="en-US" altLang="zh-CN" sz="1600" dirty="0" smtClean="0"/>
              <a:t>/</a:t>
            </a:r>
            <a:r>
              <a:rPr lang="en-US" altLang="zh-CN" sz="1600" dirty="0" err="1" smtClean="0"/>
              <a:t>noc</a:t>
            </a:r>
            <a:r>
              <a:rPr lang="zh-CN" altLang="en-US" sz="1600" dirty="0" smtClean="0"/>
              <a:t>（</a:t>
            </a:r>
            <a:r>
              <a:rPr lang="en-US" altLang="zh-CN" sz="1600" dirty="0"/>
              <a:t>BR10X</a:t>
            </a:r>
            <a:r>
              <a:rPr lang="zh-CN" altLang="en-US" sz="1600" dirty="0"/>
              <a:t>未做优化</a:t>
            </a:r>
            <a:r>
              <a:rPr lang="zh-CN" altLang="en-US" sz="1600" dirty="0" smtClean="0"/>
              <a:t>处理）；</a:t>
            </a:r>
            <a:endParaRPr lang="en-US" altLang="zh-CN" sz="1600" dirty="0"/>
          </a:p>
          <a:p>
            <a:pPr marL="171450" indent="-171450"/>
            <a:r>
              <a:rPr lang="zh-CN" altLang="en-US" sz="1600" dirty="0" smtClean="0"/>
              <a:t>相同</a:t>
            </a:r>
            <a:r>
              <a:rPr lang="en-US" altLang="zh-CN" sz="1600" dirty="0" smtClean="0"/>
              <a:t>id</a:t>
            </a:r>
            <a:r>
              <a:rPr lang="zh-CN" altLang="en-US" sz="1600" dirty="0" smtClean="0"/>
              <a:t>的请求，到了</a:t>
            </a:r>
            <a:r>
              <a:rPr lang="en-US" altLang="zh-CN" sz="1600" dirty="0" err="1" smtClean="0"/>
              <a:t>subnoc</a:t>
            </a:r>
            <a:r>
              <a:rPr lang="en-US" altLang="zh-CN" sz="1600" dirty="0" smtClean="0"/>
              <a:t>/</a:t>
            </a:r>
            <a:r>
              <a:rPr lang="en-US" altLang="zh-CN" sz="1600" dirty="0" err="1" smtClean="0"/>
              <a:t>noc</a:t>
            </a:r>
            <a:r>
              <a:rPr lang="zh-CN" altLang="en-US" sz="1600" dirty="0" smtClean="0"/>
              <a:t>，须等待前一笔同</a:t>
            </a:r>
            <a:r>
              <a:rPr lang="en-US" altLang="zh-CN" sz="1600" dirty="0" smtClean="0"/>
              <a:t>id</a:t>
            </a:r>
            <a:r>
              <a:rPr lang="zh-CN" altLang="en-US" sz="1600" dirty="0" smtClean="0"/>
              <a:t>请求完成才能下发下一笔请求；</a:t>
            </a:r>
            <a:endParaRPr lang="en-US" altLang="zh-CN" sz="1600" dirty="0" smtClean="0"/>
          </a:p>
          <a:p>
            <a:pPr marL="171450" indent="-171450"/>
            <a:r>
              <a:rPr lang="en-US" altLang="zh-CN" sz="1600" dirty="0" smtClean="0">
                <a:sym typeface="Wingdings" panose="05000000000000000000" pitchFamily="2" charset="2"/>
              </a:rPr>
              <a:t></a:t>
            </a:r>
            <a:r>
              <a:rPr lang="zh-CN" altLang="en-US" sz="1600" dirty="0" smtClean="0"/>
              <a:t>导致</a:t>
            </a:r>
            <a:r>
              <a:rPr lang="en-US" altLang="zh-CN" sz="1600" dirty="0" smtClean="0"/>
              <a:t>PCIE/P2P</a:t>
            </a:r>
            <a:r>
              <a:rPr lang="zh-CN" altLang="en-US" sz="1600" dirty="0" smtClean="0"/>
              <a:t>写</a:t>
            </a:r>
            <a:r>
              <a:rPr lang="zh-CN" altLang="zh-CN" sz="1600" dirty="0" smtClean="0"/>
              <a:t>带宽受限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71450" indent="-171450"/>
            <a:r>
              <a:rPr lang="zh-CN" altLang="en-US" sz="1600" dirty="0" smtClean="0"/>
              <a:t>在</a:t>
            </a:r>
            <a:r>
              <a:rPr lang="zh-CN" altLang="zh-CN" sz="1600" dirty="0" smtClean="0"/>
              <a:t>实验</a:t>
            </a:r>
            <a:r>
              <a:rPr lang="zh-CN" altLang="zh-CN" sz="1600" dirty="0"/>
              <a:t>中，</a:t>
            </a:r>
            <a:r>
              <a:rPr lang="en-US" altLang="zh-CN" sz="1600" dirty="0"/>
              <a:t>write</a:t>
            </a:r>
            <a:r>
              <a:rPr lang="zh-CN" altLang="zh-CN" sz="1600" dirty="0"/>
              <a:t>带宽</a:t>
            </a:r>
            <a:r>
              <a:rPr lang="zh-CN" altLang="zh-CN" sz="1600" dirty="0" smtClean="0"/>
              <a:t>和</a:t>
            </a:r>
            <a:r>
              <a:rPr lang="en-US" altLang="zh-CN" sz="1600" dirty="0" smtClean="0"/>
              <a:t>UMA </a:t>
            </a:r>
            <a:r>
              <a:rPr lang="en-US" altLang="zh-CN" sz="1600" dirty="0"/>
              <a:t>type</a:t>
            </a:r>
            <a:r>
              <a:rPr lang="zh-CN" altLang="zh-CN" sz="1600" dirty="0"/>
              <a:t>强相关，</a:t>
            </a:r>
            <a:r>
              <a:rPr lang="en-US" altLang="zh-CN" sz="1600" dirty="0"/>
              <a:t>uma512</a:t>
            </a:r>
            <a:r>
              <a:rPr lang="zh-CN" altLang="zh-CN" sz="1600" dirty="0"/>
              <a:t>时带宽大约是</a:t>
            </a:r>
            <a:r>
              <a:rPr lang="en-US" altLang="zh-CN" sz="1600" dirty="0"/>
              <a:t>1~3 GB/s</a:t>
            </a:r>
            <a:r>
              <a:rPr lang="zh-CN" altLang="zh-CN" sz="1600" dirty="0"/>
              <a:t>，</a:t>
            </a:r>
            <a:r>
              <a:rPr lang="en-US" altLang="zh-CN" sz="1600" dirty="0"/>
              <a:t>uma4k</a:t>
            </a:r>
            <a:r>
              <a:rPr lang="zh-CN" altLang="zh-CN" sz="1600" dirty="0"/>
              <a:t>时大约是</a:t>
            </a:r>
            <a:r>
              <a:rPr lang="en-US" altLang="zh-CN" sz="1600" dirty="0"/>
              <a:t>16~19 GB/s</a:t>
            </a:r>
            <a:r>
              <a:rPr lang="zh-CN" altLang="zh-CN" sz="1600" dirty="0"/>
              <a:t>，原因是</a:t>
            </a:r>
            <a:r>
              <a:rPr lang="en-US" altLang="zh-CN" sz="1600" dirty="0"/>
              <a:t>uma4k</a:t>
            </a:r>
            <a:r>
              <a:rPr lang="zh-CN" altLang="zh-CN" sz="1600" dirty="0"/>
              <a:t>时虽然是</a:t>
            </a:r>
            <a:r>
              <a:rPr lang="en-US" altLang="zh-CN" sz="1600" dirty="0"/>
              <a:t>same id</a:t>
            </a:r>
            <a:r>
              <a:rPr lang="zh-CN" altLang="zh-CN" sz="1600" dirty="0"/>
              <a:t>，但是</a:t>
            </a:r>
            <a:r>
              <a:rPr lang="zh-CN" altLang="zh-CN" sz="1600" dirty="0" smtClean="0"/>
              <a:t>仍然</a:t>
            </a:r>
            <a:r>
              <a:rPr lang="zh-CN" altLang="en-US" sz="1600" dirty="0" smtClean="0"/>
              <a:t>有机会</a:t>
            </a:r>
            <a:r>
              <a:rPr lang="en-US" altLang="zh-CN" sz="1600" dirty="0" smtClean="0"/>
              <a:t>Burst</a:t>
            </a:r>
            <a:r>
              <a:rPr lang="zh-CN" altLang="zh-CN" sz="1600" dirty="0"/>
              <a:t>传输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71450" indent="-171450"/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b="1" dirty="0" smtClean="0"/>
              <a:t>NIC</a:t>
            </a:r>
            <a:r>
              <a:rPr lang="zh-CN" altLang="en-US" sz="1600" b="1" dirty="0" smtClean="0"/>
              <a:t>多打一或者多</a:t>
            </a:r>
            <a:r>
              <a:rPr lang="en-US" altLang="zh-CN" sz="1600" b="1" dirty="0" smtClean="0"/>
              <a:t>QP</a:t>
            </a:r>
            <a:r>
              <a:rPr lang="zh-CN" altLang="en-US" sz="1600" b="1" dirty="0" smtClean="0"/>
              <a:t>写</a:t>
            </a:r>
            <a:r>
              <a:rPr lang="en-US" altLang="zh-CN" sz="1600" b="1" dirty="0" smtClean="0"/>
              <a:t>GPU</a:t>
            </a:r>
            <a:r>
              <a:rPr lang="zh-CN" altLang="en-US" sz="1600" b="1" dirty="0" smtClean="0"/>
              <a:t>卡带宽低：</a:t>
            </a:r>
            <a:endParaRPr lang="en-US" altLang="zh-CN" sz="1600" b="1" dirty="0" smtClean="0"/>
          </a:p>
          <a:p>
            <a:r>
              <a:rPr lang="en-US" altLang="zh-CN" sz="1600" dirty="0" smtClean="0"/>
              <a:t>Same id + write</a:t>
            </a:r>
            <a:r>
              <a:rPr lang="zh-CN" altLang="en-US" sz="1600" dirty="0" smtClean="0"/>
              <a:t>地址不连续，导致</a:t>
            </a:r>
            <a:r>
              <a:rPr lang="en-US" altLang="zh-CN" sz="1600" dirty="0" err="1" smtClean="0"/>
              <a:t>noc</a:t>
            </a:r>
            <a:r>
              <a:rPr lang="zh-CN" altLang="en-US" sz="1600" dirty="0" smtClean="0"/>
              <a:t>合并做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urst</a:t>
            </a:r>
            <a:r>
              <a:rPr lang="zh-CN" altLang="en-US" sz="1600" dirty="0" smtClean="0"/>
              <a:t>传输的概率大大降低；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b="1" dirty="0" smtClean="0"/>
              <a:t>PCIE/P2P</a:t>
            </a:r>
            <a:r>
              <a:rPr lang="zh-CN" altLang="en-US" sz="1600" b="1" dirty="0" smtClean="0"/>
              <a:t>，</a:t>
            </a:r>
            <a:r>
              <a:rPr lang="zh-CN" altLang="en-US" sz="1600" b="1" dirty="0"/>
              <a:t>并行读写</a:t>
            </a:r>
            <a:r>
              <a:rPr lang="en-US" altLang="zh-CN" sz="1600" b="1" dirty="0"/>
              <a:t>GPU</a:t>
            </a:r>
            <a:r>
              <a:rPr lang="zh-CN" altLang="en-US" sz="1600" b="1" dirty="0" smtClean="0"/>
              <a:t>卡时，读带宽</a:t>
            </a:r>
            <a:r>
              <a:rPr lang="zh-CN" altLang="en-US" sz="1600" b="1" dirty="0"/>
              <a:t>不符合</a:t>
            </a:r>
            <a:r>
              <a:rPr lang="zh-CN" altLang="en-US" sz="1600" b="1" dirty="0" smtClean="0"/>
              <a:t>预期：</a:t>
            </a:r>
            <a:endParaRPr lang="en-US" altLang="zh-CN" sz="1600" b="1" dirty="0"/>
          </a:p>
          <a:p>
            <a:pPr marL="171450" indent="-171450"/>
            <a:r>
              <a:rPr lang="zh-CN" altLang="en-US" sz="1600" dirty="0" smtClean="0"/>
              <a:t>按照</a:t>
            </a:r>
            <a:r>
              <a:rPr lang="en-US" altLang="zh-CN" sz="1600" dirty="0"/>
              <a:t>PCIE ordering</a:t>
            </a:r>
            <a:r>
              <a:rPr lang="zh-CN" altLang="en-US" sz="1600" dirty="0"/>
              <a:t>要求，</a:t>
            </a:r>
            <a:r>
              <a:rPr lang="en-US" altLang="zh-CN" sz="1600" dirty="0"/>
              <a:t>Non Post</a:t>
            </a:r>
            <a:r>
              <a:rPr lang="zh-CN" altLang="en-US" sz="1600" dirty="0"/>
              <a:t>请求不能超越</a:t>
            </a:r>
            <a:r>
              <a:rPr lang="en-US" altLang="zh-CN" sz="1600" dirty="0"/>
              <a:t>Post</a:t>
            </a:r>
            <a:r>
              <a:rPr lang="zh-CN" altLang="en-US" sz="1600" dirty="0"/>
              <a:t>请求，会导致</a:t>
            </a:r>
            <a:r>
              <a:rPr lang="en-US" altLang="zh-CN" sz="1600" dirty="0"/>
              <a:t>NIC</a:t>
            </a:r>
            <a:r>
              <a:rPr lang="zh-CN" altLang="en-US" sz="1600" dirty="0"/>
              <a:t>读写并发时，读</a:t>
            </a:r>
            <a:r>
              <a:rPr lang="en-US" altLang="zh-CN" sz="1600" dirty="0"/>
              <a:t>(NP)</a:t>
            </a:r>
            <a:r>
              <a:rPr lang="zh-CN" altLang="en-US" sz="1600" dirty="0"/>
              <a:t>带宽被写</a:t>
            </a:r>
            <a:r>
              <a:rPr lang="en-US" altLang="zh-CN" sz="1600" dirty="0"/>
              <a:t>(P)</a:t>
            </a:r>
            <a:r>
              <a:rPr lang="zh-CN" altLang="en-US" sz="1600" dirty="0"/>
              <a:t>带宽压制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71450" indent="-171450"/>
            <a:r>
              <a:rPr lang="en-US" altLang="zh-CN" sz="1600" dirty="0" smtClean="0"/>
              <a:t>NIC</a:t>
            </a:r>
            <a:r>
              <a:rPr lang="zh-CN" altLang="en-US" sz="1600" dirty="0" smtClean="0"/>
              <a:t>读写带宽被压制，</a:t>
            </a:r>
            <a:r>
              <a:rPr lang="zh-CN" altLang="en-US" sz="1600" dirty="0"/>
              <a:t>可能</a:t>
            </a:r>
            <a:r>
              <a:rPr lang="zh-CN" altLang="en-US" sz="1600" dirty="0" smtClean="0"/>
              <a:t>继而引起触发其</a:t>
            </a:r>
            <a:r>
              <a:rPr lang="en-US" altLang="zh-CN" sz="1600" dirty="0" smtClean="0"/>
              <a:t>PFC</a:t>
            </a:r>
            <a:r>
              <a:rPr lang="zh-CN" altLang="en-US" sz="1600" dirty="0" smtClean="0"/>
              <a:t>流控，造成更严重的带宽下降或者波动，需要精细调整流控参数获得稳定带宽；</a:t>
            </a:r>
            <a:endParaRPr lang="en-US" altLang="zh-CN" sz="1600" dirty="0"/>
          </a:p>
          <a:p>
            <a:pPr marL="171450" indent="-171450"/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b="1" dirty="0" smtClean="0"/>
              <a:t>BR200</a:t>
            </a:r>
            <a:r>
              <a:rPr lang="zh-CN" altLang="en-US" sz="1600" b="1" dirty="0" smtClean="0"/>
              <a:t>改进：</a:t>
            </a:r>
            <a:endParaRPr lang="en-US" altLang="zh-CN" sz="1600" b="1" dirty="0"/>
          </a:p>
          <a:p>
            <a:pPr marL="171450" indent="-171450"/>
            <a:r>
              <a:rPr lang="en-US" altLang="zh-CN" sz="1600" dirty="0" smtClean="0"/>
              <a:t>BR200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HA</a:t>
            </a:r>
            <a:r>
              <a:rPr lang="zh-CN" altLang="en-US" sz="1600" dirty="0" smtClean="0"/>
              <a:t>会做</a:t>
            </a:r>
            <a:r>
              <a:rPr lang="zh-CN" altLang="en-US" sz="1600" dirty="0"/>
              <a:t>针对性</a:t>
            </a:r>
            <a:r>
              <a:rPr lang="zh-CN" altLang="en-US" sz="1600" dirty="0" smtClean="0"/>
              <a:t>优化</a:t>
            </a:r>
            <a:r>
              <a:rPr lang="zh-CN" altLang="en-US" sz="1600" dirty="0"/>
              <a:t>处理，大幅提升</a:t>
            </a:r>
            <a:r>
              <a:rPr lang="en-US" altLang="zh-CN" sz="1600" dirty="0"/>
              <a:t>PCIE </a:t>
            </a:r>
            <a:r>
              <a:rPr lang="en-US" altLang="zh-CN" sz="1600" dirty="0" smtClean="0"/>
              <a:t>down stream</a:t>
            </a:r>
            <a:r>
              <a:rPr lang="zh-CN" altLang="en-US" sz="1600" dirty="0"/>
              <a:t>方向写带宽</a:t>
            </a:r>
            <a:r>
              <a:rPr lang="zh-CN" altLang="en-US" sz="1600" dirty="0" smtClean="0"/>
              <a:t>；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12276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P2P AXI ID</a:t>
            </a:r>
            <a:r>
              <a:rPr lang="zh-CN" altLang="en-US" dirty="0"/>
              <a:t>冲突问题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285" y="950385"/>
            <a:ext cx="4859362" cy="35623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263" y="950385"/>
            <a:ext cx="3894138" cy="4509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6285" y="5943600"/>
            <a:ext cx="4666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P2PX16</a:t>
            </a:r>
            <a:r>
              <a:rPr lang="zh-CN" altLang="en-US" dirty="0" smtClean="0"/>
              <a:t>的</a:t>
            </a:r>
            <a:r>
              <a:rPr lang="en-US" altLang="zh-CN" dirty="0" err="1"/>
              <a:t>subnoc</a:t>
            </a:r>
            <a:r>
              <a:rPr lang="zh-CN" altLang="en-US" dirty="0"/>
              <a:t>上，存在两处</a:t>
            </a:r>
            <a:r>
              <a:rPr lang="en-US" altLang="zh-CN" dirty="0"/>
              <a:t>id</a:t>
            </a:r>
            <a:r>
              <a:rPr lang="zh-CN" altLang="en-US" dirty="0"/>
              <a:t>冲突</a:t>
            </a:r>
            <a:r>
              <a:rPr lang="zh-CN" altLang="en-US" dirty="0" smtClean="0"/>
              <a:t>点；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P2PX8</a:t>
            </a:r>
            <a:r>
              <a:rPr lang="zh-CN" altLang="en-US" dirty="0" smtClean="0"/>
              <a:t>的</a:t>
            </a:r>
            <a:r>
              <a:rPr lang="en-US" altLang="zh-CN" dirty="0" err="1"/>
              <a:t>subnoc</a:t>
            </a:r>
            <a:r>
              <a:rPr lang="zh-CN" altLang="en-US" dirty="0"/>
              <a:t>上，</a:t>
            </a:r>
            <a:r>
              <a:rPr lang="zh-CN" altLang="en-US" dirty="0" smtClean="0"/>
              <a:t>存在一处</a:t>
            </a:r>
            <a:r>
              <a:rPr lang="en-US" altLang="zh-CN" dirty="0"/>
              <a:t>id</a:t>
            </a:r>
            <a:r>
              <a:rPr lang="zh-CN" altLang="en-US" dirty="0"/>
              <a:t>冲突</a:t>
            </a:r>
            <a:r>
              <a:rPr lang="zh-CN" altLang="en-US" dirty="0" smtClean="0"/>
              <a:t>点；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06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P2P AXI ID</a:t>
            </a:r>
            <a:r>
              <a:rPr lang="zh-CN" altLang="en-US" dirty="0"/>
              <a:t>冲突</a:t>
            </a:r>
            <a:r>
              <a:rPr lang="zh-CN" altLang="en-US" dirty="0" smtClean="0"/>
              <a:t>问题原因分析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 smtClean="0"/>
              <a:t>定性分析：</a:t>
            </a:r>
            <a:endParaRPr lang="en-US" altLang="zh-CN" sz="1800" b="1" dirty="0" smtClean="0"/>
          </a:p>
          <a:p>
            <a:pPr marL="171450" indent="-171450"/>
            <a:r>
              <a:rPr lang="en-US" altLang="zh-CN" sz="1600" dirty="0" err="1" smtClean="0"/>
              <a:t>Subnoc</a:t>
            </a:r>
            <a:r>
              <a:rPr lang="zh-CN" altLang="en-US" sz="1600" dirty="0"/>
              <a:t>会对进来的请求，做</a:t>
            </a:r>
            <a:r>
              <a:rPr lang="en-US" altLang="zh-CN" sz="1600" dirty="0"/>
              <a:t>ID remap</a:t>
            </a:r>
            <a:r>
              <a:rPr lang="zh-CN" altLang="en-US" sz="1600" dirty="0"/>
              <a:t>处理，但是</a:t>
            </a:r>
            <a:r>
              <a:rPr lang="en-US" altLang="zh-CN" sz="1600" dirty="0"/>
              <a:t>BR10X</a:t>
            </a:r>
            <a:r>
              <a:rPr lang="zh-CN" altLang="en-US" sz="1600" b="1" dirty="0"/>
              <a:t>不能保证</a:t>
            </a:r>
            <a:r>
              <a:rPr lang="zh-CN" altLang="en-US" sz="1600" dirty="0"/>
              <a:t>来自多个</a:t>
            </a:r>
            <a:r>
              <a:rPr lang="en-US" altLang="zh-CN" sz="1600" dirty="0"/>
              <a:t>master</a:t>
            </a:r>
            <a:r>
              <a:rPr lang="zh-CN" altLang="en-US" sz="1600" dirty="0"/>
              <a:t>的请求，</a:t>
            </a:r>
            <a:r>
              <a:rPr lang="en-US" altLang="zh-CN" sz="1600" dirty="0"/>
              <a:t>remap</a:t>
            </a:r>
            <a:r>
              <a:rPr lang="zh-CN" altLang="en-US" sz="1600" dirty="0"/>
              <a:t>后的</a:t>
            </a:r>
            <a:r>
              <a:rPr lang="en-US" altLang="zh-CN" sz="1600" dirty="0"/>
              <a:t>ID</a:t>
            </a:r>
            <a:r>
              <a:rPr lang="zh-CN" altLang="en-US" sz="1600" dirty="0"/>
              <a:t>不同；</a:t>
            </a:r>
            <a:endParaRPr lang="en-US" altLang="zh-CN" sz="1600" dirty="0"/>
          </a:p>
          <a:p>
            <a:pPr marL="171450" indent="-171450"/>
            <a:r>
              <a:rPr lang="en-US" altLang="zh-CN" sz="1600" dirty="0" err="1"/>
              <a:t>Subnoc</a:t>
            </a:r>
            <a:r>
              <a:rPr lang="zh-CN" altLang="en-US" sz="1600" dirty="0"/>
              <a:t>去往同一个</a:t>
            </a:r>
            <a:r>
              <a:rPr lang="en-US" altLang="zh-CN" sz="1600" dirty="0"/>
              <a:t>slave</a:t>
            </a:r>
            <a:r>
              <a:rPr lang="zh-CN" altLang="en-US" sz="1600" dirty="0"/>
              <a:t>的请求，一旦发生相同</a:t>
            </a:r>
            <a:r>
              <a:rPr lang="en-US" altLang="zh-CN" sz="1600" dirty="0"/>
              <a:t>ID</a:t>
            </a:r>
            <a:r>
              <a:rPr lang="zh-CN" altLang="en-US" sz="1600" dirty="0" smtClean="0"/>
              <a:t>，按照</a:t>
            </a:r>
            <a:r>
              <a:rPr lang="en-US" altLang="zh-CN" sz="1600" dirty="0" smtClean="0"/>
              <a:t>ordering</a:t>
            </a:r>
            <a:r>
              <a:rPr lang="zh-CN" altLang="en-US" sz="1600" dirty="0" smtClean="0"/>
              <a:t>规则，该</a:t>
            </a:r>
            <a:r>
              <a:rPr lang="en-US" altLang="zh-CN" sz="1600" dirty="0"/>
              <a:t>slave</a:t>
            </a:r>
            <a:r>
              <a:rPr lang="zh-CN" altLang="en-US" sz="1600" dirty="0"/>
              <a:t>口后续所有</a:t>
            </a:r>
            <a:r>
              <a:rPr lang="zh-CN" altLang="en-US" sz="1600" dirty="0" smtClean="0"/>
              <a:t>读</a:t>
            </a:r>
            <a:r>
              <a:rPr lang="zh-CN" altLang="en-US" sz="1600" dirty="0"/>
              <a:t>和</a:t>
            </a:r>
            <a:r>
              <a:rPr lang="zh-CN" altLang="en-US" sz="1600" dirty="0" smtClean="0"/>
              <a:t>写</a:t>
            </a:r>
            <a:r>
              <a:rPr lang="zh-CN" altLang="en-US" sz="1600" dirty="0"/>
              <a:t>请求，都会被挡住，直到该</a:t>
            </a:r>
            <a:r>
              <a:rPr lang="en-US" altLang="zh-CN" sz="1600" dirty="0"/>
              <a:t>id</a:t>
            </a:r>
            <a:r>
              <a:rPr lang="zh-CN" altLang="en-US" sz="1600" dirty="0"/>
              <a:t>的请求完成（带宽利用率下降）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71450" indent="-171450"/>
            <a:r>
              <a:rPr lang="zh-CN" altLang="en-US" sz="1600" dirty="0" smtClean="0"/>
              <a:t>冲突点越多</a:t>
            </a:r>
            <a:r>
              <a:rPr lang="en-US" altLang="zh-CN" sz="1600" dirty="0" smtClean="0">
                <a:sym typeface="Wingdings" panose="05000000000000000000" pitchFamily="2" charset="2"/>
              </a:rPr>
              <a:t></a:t>
            </a:r>
            <a:r>
              <a:rPr lang="zh-CN" altLang="en-US" sz="1600" dirty="0" smtClean="0"/>
              <a:t>冲突越严重</a:t>
            </a:r>
            <a:r>
              <a:rPr lang="en-US" altLang="zh-CN" sz="1600" dirty="0" smtClean="0">
                <a:sym typeface="Wingdings" panose="05000000000000000000" pitchFamily="2" charset="2"/>
              </a:rPr>
              <a:t></a:t>
            </a:r>
            <a:r>
              <a:rPr lang="zh-CN" altLang="en-US" sz="1600" dirty="0" smtClean="0"/>
              <a:t>带宽利用率</a:t>
            </a:r>
            <a:r>
              <a:rPr lang="zh-CN" altLang="en-US" sz="1600" dirty="0"/>
              <a:t>越低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71450" indent="-171450"/>
            <a:endParaRPr lang="en-US" altLang="zh-CN" sz="1600" dirty="0"/>
          </a:p>
          <a:p>
            <a:pPr marL="0" indent="0">
              <a:buNone/>
            </a:pPr>
            <a:r>
              <a:rPr lang="zh-CN" altLang="en-US" sz="1800" b="1" dirty="0" smtClean="0"/>
              <a:t>实验数据：</a:t>
            </a:r>
            <a:endParaRPr lang="en-US" altLang="zh-CN" sz="1800" b="1" dirty="0" smtClean="0"/>
          </a:p>
          <a:p>
            <a:pPr marL="171450" indent="-171450"/>
            <a:r>
              <a:rPr lang="zh-CN" altLang="en-US" sz="1600" dirty="0" smtClean="0"/>
              <a:t>如果</a:t>
            </a:r>
            <a:r>
              <a:rPr lang="zh-CN" altLang="en-US" sz="1600" dirty="0"/>
              <a:t>使用场景下，存在一个冲突点，实验中</a:t>
            </a:r>
            <a:r>
              <a:rPr lang="en-US" altLang="zh-CN" sz="1600" dirty="0"/>
              <a:t>p2p</a:t>
            </a:r>
            <a:r>
              <a:rPr lang="zh-CN" altLang="en-US" sz="1600" dirty="0"/>
              <a:t>单向带宽会小概率下降，有观察到</a:t>
            </a:r>
            <a:r>
              <a:rPr lang="en-US" altLang="zh-CN" sz="1600" dirty="0"/>
              <a:t>27.5 --&gt; 23 GB/s;</a:t>
            </a:r>
          </a:p>
          <a:p>
            <a:pPr marL="171450" indent="-171450"/>
            <a:r>
              <a:rPr lang="zh-CN" altLang="en-US" sz="1600" dirty="0"/>
              <a:t>如果使用场景下，存在两个冲突点，实验中</a:t>
            </a:r>
            <a:r>
              <a:rPr lang="en-US" altLang="zh-CN" sz="1600" dirty="0"/>
              <a:t>p2p</a:t>
            </a:r>
            <a:r>
              <a:rPr lang="zh-CN" altLang="en-US" sz="1600" dirty="0"/>
              <a:t>单向带宽会极大概率下降</a:t>
            </a:r>
            <a:r>
              <a:rPr lang="en-US" altLang="zh-CN" sz="1600" dirty="0"/>
              <a:t>50%</a:t>
            </a:r>
            <a:r>
              <a:rPr lang="zh-CN" altLang="en-US" sz="1600" dirty="0"/>
              <a:t>以上，</a:t>
            </a:r>
            <a:r>
              <a:rPr lang="en-US" altLang="zh-CN" sz="1600" dirty="0"/>
              <a:t>27.5 --&gt;12.7 GB/s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71450" indent="-171450"/>
            <a:r>
              <a:rPr lang="en-US" altLang="zh-CN" sz="1600" dirty="0" smtClean="0"/>
              <a:t>ALL2ALL </a:t>
            </a:r>
            <a:r>
              <a:rPr lang="zh-CN" altLang="en-US" sz="1600" dirty="0" smtClean="0"/>
              <a:t>存在多个冲突点，会下降到</a:t>
            </a:r>
            <a:r>
              <a:rPr lang="en-US" altLang="zh-CN" sz="1600" dirty="0" smtClean="0"/>
              <a:t>3GB/s.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93661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实验一：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034" y="866126"/>
            <a:ext cx="9553575" cy="4695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0034" y="5561951"/>
            <a:ext cx="8762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测试目的：证明所有</a:t>
            </a:r>
            <a:r>
              <a:rPr lang="en-US" altLang="zh-CN" dirty="0"/>
              <a:t>P2PX16</a:t>
            </a:r>
            <a:r>
              <a:rPr lang="zh-CN" altLang="en-US" dirty="0"/>
              <a:t>都存在</a:t>
            </a:r>
            <a:r>
              <a:rPr lang="en-US" altLang="zh-CN" dirty="0"/>
              <a:t>ID</a:t>
            </a:r>
            <a:r>
              <a:rPr lang="zh-CN" altLang="en-US" dirty="0"/>
              <a:t>冲突问题，非</a:t>
            </a:r>
            <a:r>
              <a:rPr lang="en-US" altLang="zh-CN" dirty="0"/>
              <a:t>port10</a:t>
            </a:r>
            <a:r>
              <a:rPr lang="zh-CN" altLang="en-US" dirty="0" smtClean="0"/>
              <a:t>独有</a:t>
            </a:r>
            <a:endParaRPr lang="en-US" altLang="zh-CN" dirty="0" smtClean="0"/>
          </a:p>
          <a:p>
            <a:r>
              <a:rPr lang="zh-CN" altLang="en-US" dirty="0" smtClean="0"/>
              <a:t>测试平台：</a:t>
            </a:r>
            <a:r>
              <a:rPr lang="en-US" altLang="zh-CN" dirty="0" smtClean="0"/>
              <a:t>BR166 + UBB V1 + port9</a:t>
            </a:r>
            <a:r>
              <a:rPr lang="zh-CN" altLang="en-US" dirty="0" smtClean="0"/>
              <a:t>铜缆互连</a:t>
            </a:r>
            <a:endParaRPr lang="en-US" altLang="zh-CN" dirty="0" smtClean="0"/>
          </a:p>
          <a:p>
            <a:r>
              <a:rPr lang="zh-CN" altLang="en-US" dirty="0" smtClean="0"/>
              <a:t>测试用例：</a:t>
            </a:r>
            <a:r>
              <a:rPr lang="en-US" altLang="zh-CN" dirty="0" smtClean="0"/>
              <a:t>GPU3</a:t>
            </a:r>
            <a:r>
              <a:rPr lang="zh-CN" altLang="en-US" dirty="0" smtClean="0"/>
              <a:t>上</a:t>
            </a:r>
            <a:r>
              <a:rPr lang="en-US" altLang="zh-CN" dirty="0" smtClean="0"/>
              <a:t>port 6/8/9/10</a:t>
            </a:r>
            <a:r>
              <a:rPr lang="zh-CN" altLang="en-US" dirty="0" smtClean="0"/>
              <a:t>，并行双向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，配置</a:t>
            </a:r>
            <a:r>
              <a:rPr lang="en-US" altLang="zh-CN" dirty="0" smtClean="0"/>
              <a:t>CPDMA EU</a:t>
            </a:r>
            <a:r>
              <a:rPr lang="zh-CN" altLang="en-US" dirty="0" smtClean="0"/>
              <a:t>保证只有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个冲突点</a:t>
            </a:r>
            <a:endParaRPr lang="en-US" altLang="zh-CN" dirty="0" smtClean="0"/>
          </a:p>
          <a:p>
            <a:r>
              <a:rPr lang="zh-CN" altLang="en-US" dirty="0" smtClean="0"/>
              <a:t>测试结果：单向</a:t>
            </a:r>
            <a:r>
              <a:rPr lang="en-US" altLang="zh-CN" dirty="0" smtClean="0"/>
              <a:t>109/4 = 27.3 GB/s</a:t>
            </a:r>
            <a:r>
              <a:rPr lang="zh-CN" altLang="en-US" dirty="0" smtClean="0"/>
              <a:t>，符合预期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56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zh-CN" altLang="en-US" dirty="0"/>
              <a:t>二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0034" y="5626603"/>
            <a:ext cx="7717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测试目的：证明所有</a:t>
            </a:r>
            <a:r>
              <a:rPr lang="en-US" altLang="zh-CN" dirty="0"/>
              <a:t>P2PX16</a:t>
            </a:r>
            <a:r>
              <a:rPr lang="zh-CN" altLang="en-US" dirty="0"/>
              <a:t>都存在</a:t>
            </a:r>
            <a:r>
              <a:rPr lang="en-US" altLang="zh-CN" dirty="0"/>
              <a:t>ID</a:t>
            </a:r>
            <a:r>
              <a:rPr lang="zh-CN" altLang="en-US" dirty="0"/>
              <a:t>冲突问题，非</a:t>
            </a:r>
            <a:r>
              <a:rPr lang="en-US" altLang="zh-CN" dirty="0"/>
              <a:t>port10</a:t>
            </a:r>
            <a:r>
              <a:rPr lang="zh-CN" altLang="en-US" dirty="0" smtClean="0"/>
              <a:t>独有</a:t>
            </a:r>
            <a:endParaRPr lang="en-US" altLang="zh-CN" dirty="0" smtClean="0"/>
          </a:p>
          <a:p>
            <a:r>
              <a:rPr lang="zh-CN" altLang="en-US" dirty="0" smtClean="0"/>
              <a:t>测试平台：</a:t>
            </a:r>
            <a:r>
              <a:rPr lang="en-US" altLang="zh-CN" dirty="0" smtClean="0"/>
              <a:t>BR166 + UBB V1 + port9</a:t>
            </a:r>
            <a:r>
              <a:rPr lang="zh-CN" altLang="en-US" dirty="0" smtClean="0"/>
              <a:t>铜缆互连</a:t>
            </a:r>
            <a:endParaRPr lang="en-US" altLang="zh-CN" dirty="0" smtClean="0"/>
          </a:p>
          <a:p>
            <a:r>
              <a:rPr lang="zh-CN" altLang="en-US" dirty="0" smtClean="0"/>
              <a:t>测试用例：</a:t>
            </a:r>
            <a:r>
              <a:rPr lang="en-US" altLang="zh-CN" dirty="0" smtClean="0"/>
              <a:t>GPU3</a:t>
            </a:r>
            <a:r>
              <a:rPr lang="zh-CN" altLang="en-US" dirty="0" smtClean="0"/>
              <a:t>上</a:t>
            </a:r>
            <a:r>
              <a:rPr lang="en-US" altLang="zh-CN" dirty="0" smtClean="0"/>
              <a:t>port 7/8/9/10</a:t>
            </a:r>
            <a:r>
              <a:rPr lang="zh-CN" altLang="en-US" dirty="0" smtClean="0"/>
              <a:t>，并行双向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，遍历所有</a:t>
            </a:r>
            <a:r>
              <a:rPr lang="en-US" altLang="zh-CN" dirty="0" smtClean="0"/>
              <a:t>CPDMA EU</a:t>
            </a:r>
            <a:r>
              <a:rPr lang="zh-CN" altLang="en-US" dirty="0" smtClean="0"/>
              <a:t>组合</a:t>
            </a:r>
            <a:endParaRPr lang="en-US" altLang="zh-CN" dirty="0" smtClean="0"/>
          </a:p>
          <a:p>
            <a:r>
              <a:rPr lang="zh-CN" altLang="en-US" dirty="0" smtClean="0"/>
              <a:t>测试结果：单向最大</a:t>
            </a:r>
            <a:r>
              <a:rPr lang="en-US" altLang="zh-CN" dirty="0" smtClean="0"/>
              <a:t>48.7/4 = 12.2 GB/s</a:t>
            </a:r>
            <a:r>
              <a:rPr lang="zh-CN" altLang="en-US" dirty="0"/>
              <a:t>，符合</a:t>
            </a:r>
            <a:r>
              <a:rPr lang="zh-CN" altLang="en-US" dirty="0" smtClean="0"/>
              <a:t>预期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4" y="771805"/>
            <a:ext cx="95535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7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zh-CN" altLang="en-US" dirty="0"/>
              <a:t>三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0034" y="5657671"/>
            <a:ext cx="9701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测试目的：证明只要有两个冲突点，带宽就会下降，不需要所有</a:t>
            </a:r>
            <a:r>
              <a:rPr lang="en-US" altLang="zh-CN" dirty="0"/>
              <a:t>p2p port</a:t>
            </a:r>
            <a:r>
              <a:rPr lang="zh-CN" altLang="en-US" dirty="0"/>
              <a:t>都工作就可</a:t>
            </a:r>
            <a:r>
              <a:rPr lang="zh-CN" altLang="en-US" dirty="0" smtClean="0"/>
              <a:t>复现</a:t>
            </a:r>
            <a:endParaRPr lang="en-US" altLang="zh-CN" dirty="0" smtClean="0"/>
          </a:p>
          <a:p>
            <a:r>
              <a:rPr lang="zh-CN" altLang="en-US" dirty="0" smtClean="0"/>
              <a:t>测试平台：</a:t>
            </a:r>
            <a:r>
              <a:rPr lang="en-US" altLang="zh-CN" dirty="0" smtClean="0"/>
              <a:t>BR166 + UBB V1 + port9</a:t>
            </a:r>
            <a:r>
              <a:rPr lang="zh-CN" altLang="en-US" dirty="0" smtClean="0"/>
              <a:t>铜缆互连</a:t>
            </a:r>
            <a:endParaRPr lang="en-US" altLang="zh-CN" dirty="0" smtClean="0"/>
          </a:p>
          <a:p>
            <a:r>
              <a:rPr lang="zh-CN" altLang="en-US" dirty="0" smtClean="0"/>
              <a:t>测试用例：</a:t>
            </a:r>
            <a:r>
              <a:rPr lang="en-US" altLang="zh-CN" dirty="0" smtClean="0"/>
              <a:t>GPU3</a:t>
            </a:r>
            <a:r>
              <a:rPr lang="zh-CN" altLang="en-US" dirty="0" smtClean="0"/>
              <a:t>上</a:t>
            </a:r>
            <a:r>
              <a:rPr lang="en-US" altLang="zh-CN" dirty="0" smtClean="0"/>
              <a:t>port 6/8/10</a:t>
            </a:r>
            <a:r>
              <a:rPr lang="zh-CN" altLang="en-US" dirty="0" smtClean="0"/>
              <a:t>，按图示单向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GPU3</a:t>
            </a:r>
            <a:r>
              <a:rPr lang="zh-CN" altLang="en-US" dirty="0" smtClean="0"/>
              <a:t>上使用</a:t>
            </a:r>
            <a:r>
              <a:rPr lang="en-US" altLang="zh-CN" dirty="0" smtClean="0"/>
              <a:t>port 10 </a:t>
            </a:r>
            <a:r>
              <a:rPr lang="en-US" altLang="zh-CN" dirty="0" err="1" smtClean="0"/>
              <a:t>subnoc</a:t>
            </a:r>
            <a:r>
              <a:rPr lang="zh-CN" altLang="en-US" dirty="0" smtClean="0"/>
              <a:t>上的两个</a:t>
            </a:r>
            <a:r>
              <a:rPr lang="en-US" altLang="zh-CN" dirty="0" smtClean="0"/>
              <a:t>CPDMA</a:t>
            </a:r>
          </a:p>
          <a:p>
            <a:r>
              <a:rPr lang="zh-CN" altLang="en-US" dirty="0" smtClean="0"/>
              <a:t>测试结果：</a:t>
            </a:r>
            <a:r>
              <a:rPr lang="en-US" altLang="zh-CN" dirty="0" smtClean="0"/>
              <a:t>GPU3</a:t>
            </a:r>
            <a:r>
              <a:rPr lang="zh-CN" altLang="en-US" dirty="0" smtClean="0"/>
              <a:t>上</a:t>
            </a:r>
            <a:r>
              <a:rPr lang="en-US" altLang="zh-CN" dirty="0" smtClean="0"/>
              <a:t>CPDMA</a:t>
            </a:r>
            <a:r>
              <a:rPr lang="zh-CN" altLang="en-US" dirty="0" smtClean="0"/>
              <a:t>带宽下降到</a:t>
            </a:r>
            <a:r>
              <a:rPr lang="en-US" altLang="zh-CN" dirty="0" smtClean="0"/>
              <a:t>12GB/s</a:t>
            </a:r>
            <a:r>
              <a:rPr lang="zh-CN" altLang="en-US" dirty="0"/>
              <a:t>左右，符合</a:t>
            </a:r>
            <a:r>
              <a:rPr lang="zh-CN" altLang="en-US" dirty="0" smtClean="0"/>
              <a:t>预期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2579" y="971719"/>
            <a:ext cx="11371161" cy="43946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4" y="791497"/>
            <a:ext cx="9306663" cy="46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15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P2P</a:t>
            </a:r>
            <a:r>
              <a:rPr lang="zh-CN" altLang="en-US" dirty="0" smtClean="0"/>
              <a:t>接南向</a:t>
            </a:r>
            <a:r>
              <a:rPr lang="en-US" altLang="zh-CN" dirty="0" smtClean="0"/>
              <a:t>switch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/>
              <a:t>SW</a:t>
            </a:r>
            <a:r>
              <a:rPr lang="zh-CN" altLang="en-US" sz="2000" dirty="0" smtClean="0"/>
              <a:t>实测中，带宽大约为</a:t>
            </a:r>
            <a:r>
              <a:rPr lang="en-US" altLang="zh-CN" sz="2000" dirty="0" smtClean="0"/>
              <a:t>22GB/s</a:t>
            </a:r>
            <a:r>
              <a:rPr lang="zh-CN" altLang="en-US" sz="2000" dirty="0" smtClean="0"/>
              <a:t>，原因分析：</a:t>
            </a:r>
            <a:endParaRPr lang="en-US" altLang="zh-CN" sz="2000" dirty="0" smtClean="0"/>
          </a:p>
          <a:p>
            <a:r>
              <a:rPr lang="zh-CN" altLang="en-US" sz="2000" dirty="0" smtClean="0"/>
              <a:t>测试</a:t>
            </a:r>
            <a:r>
              <a:rPr lang="zh-CN" altLang="en-US" sz="2000" dirty="0"/>
              <a:t>使用的是</a:t>
            </a:r>
            <a:r>
              <a:rPr lang="en-US" altLang="zh-CN" sz="2000" dirty="0"/>
              <a:t>CPDMA engine</a:t>
            </a:r>
            <a:r>
              <a:rPr lang="zh-CN" altLang="en-US" sz="2000" dirty="0"/>
              <a:t>，</a:t>
            </a:r>
            <a:r>
              <a:rPr lang="en-US" altLang="zh-CN" sz="2000" dirty="0"/>
              <a:t>CPDMA</a:t>
            </a:r>
            <a:r>
              <a:rPr lang="zh-CN" altLang="en-US" sz="2000" dirty="0"/>
              <a:t>最初设计目标是打满</a:t>
            </a:r>
            <a:r>
              <a:rPr lang="en-US" altLang="zh-CN" sz="2000" dirty="0" err="1" smtClean="0"/>
              <a:t>BLink</a:t>
            </a:r>
            <a:r>
              <a:rPr lang="zh-CN" altLang="en-US" sz="2000" dirty="0"/>
              <a:t>直连的带宽</a:t>
            </a:r>
            <a:r>
              <a:rPr lang="zh-CN" altLang="en-US" sz="2000" dirty="0" smtClean="0"/>
              <a:t>，</a:t>
            </a:r>
            <a:r>
              <a:rPr lang="en-US" altLang="zh-CN" sz="2000" dirty="0"/>
              <a:t> </a:t>
            </a:r>
            <a:r>
              <a:rPr lang="en-US" altLang="zh-CN" sz="2000" dirty="0" err="1"/>
              <a:t>BLink</a:t>
            </a:r>
            <a:r>
              <a:rPr lang="zh-CN" altLang="en-US" sz="2000" dirty="0" smtClean="0"/>
              <a:t>直</a:t>
            </a:r>
            <a:r>
              <a:rPr lang="zh-CN" altLang="en-US" sz="2000" dirty="0"/>
              <a:t>连的情况下，</a:t>
            </a:r>
            <a:r>
              <a:rPr lang="en-US" altLang="zh-CN" sz="2000" dirty="0"/>
              <a:t>Latency</a:t>
            </a:r>
            <a:r>
              <a:rPr lang="zh-CN" altLang="en-US" sz="2000" dirty="0"/>
              <a:t>较小，</a:t>
            </a:r>
            <a:r>
              <a:rPr lang="en-US" altLang="zh-CN" sz="2000" dirty="0"/>
              <a:t>CPDMA outstanding</a:t>
            </a:r>
            <a:r>
              <a:rPr lang="zh-CN" altLang="en-US" sz="2000" dirty="0"/>
              <a:t>数量可以打满带宽；</a:t>
            </a:r>
          </a:p>
          <a:p>
            <a:r>
              <a:rPr lang="zh-CN" altLang="en-US" sz="2000" dirty="0" smtClean="0"/>
              <a:t>接</a:t>
            </a:r>
            <a:r>
              <a:rPr lang="zh-CN" altLang="en-US" sz="2000" dirty="0"/>
              <a:t>南向</a:t>
            </a:r>
            <a:r>
              <a:rPr lang="en-US" altLang="zh-CN" sz="2000" dirty="0"/>
              <a:t>PCIE switch</a:t>
            </a:r>
            <a:r>
              <a:rPr lang="zh-CN" altLang="en-US" sz="2000" dirty="0"/>
              <a:t>情况下，</a:t>
            </a:r>
            <a:r>
              <a:rPr lang="en-US" altLang="zh-CN" sz="2000" dirty="0"/>
              <a:t>PCIE Switch</a:t>
            </a:r>
            <a:r>
              <a:rPr lang="zh-CN" altLang="en-US" sz="2000" dirty="0"/>
              <a:t>和光模块，都加大了</a:t>
            </a:r>
            <a:r>
              <a:rPr lang="en-US" altLang="zh-CN" sz="2000" dirty="0"/>
              <a:t>Latency</a:t>
            </a:r>
            <a:r>
              <a:rPr lang="zh-CN" altLang="en-US" sz="2000" dirty="0"/>
              <a:t>，</a:t>
            </a:r>
            <a:r>
              <a:rPr lang="en-US" altLang="zh-CN" sz="2000" dirty="0"/>
              <a:t>CPDMA outstanding</a:t>
            </a:r>
            <a:r>
              <a:rPr lang="zh-CN" altLang="en-US" sz="2000" dirty="0"/>
              <a:t>数量不足，从而影响了带宽利用率；</a:t>
            </a:r>
          </a:p>
          <a:p>
            <a:r>
              <a:rPr lang="zh-CN" altLang="en-US" sz="2000" dirty="0" smtClean="0"/>
              <a:t>测试</a:t>
            </a:r>
            <a:r>
              <a:rPr lang="zh-CN" altLang="en-US" sz="2000" dirty="0"/>
              <a:t>中，</a:t>
            </a:r>
            <a:r>
              <a:rPr lang="en-US" altLang="zh-CN" sz="2000" dirty="0"/>
              <a:t>P2P</a:t>
            </a:r>
            <a:r>
              <a:rPr lang="zh-CN" altLang="en-US" sz="2000" dirty="0"/>
              <a:t>访存操作会经过内部</a:t>
            </a:r>
            <a:r>
              <a:rPr lang="en-US" altLang="zh-CN" sz="2000" dirty="0"/>
              <a:t>L2 cache</a:t>
            </a:r>
            <a:r>
              <a:rPr lang="zh-CN" altLang="en-US" sz="2000" dirty="0"/>
              <a:t>，</a:t>
            </a:r>
            <a:r>
              <a:rPr lang="en-US" altLang="zh-CN" sz="2000" dirty="0"/>
              <a:t>cache miss/evict</a:t>
            </a:r>
            <a:r>
              <a:rPr lang="zh-CN" altLang="en-US" sz="2000" dirty="0"/>
              <a:t>也会引起延时增加，导致带宽降低</a:t>
            </a:r>
            <a:r>
              <a:rPr lang="en-US" altLang="zh-CN" sz="2000" dirty="0"/>
              <a:t>~6.5%</a:t>
            </a:r>
            <a:r>
              <a:rPr lang="zh-CN" altLang="en-US" sz="2000" dirty="0"/>
              <a:t>；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从之前的实验来看，如果使用</a:t>
            </a:r>
            <a:r>
              <a:rPr lang="en-US" altLang="zh-CN" sz="2000" dirty="0"/>
              <a:t>SDMA engine</a:t>
            </a:r>
            <a:r>
              <a:rPr lang="zh-CN" altLang="en-US" sz="2000" dirty="0"/>
              <a:t>，由于</a:t>
            </a:r>
            <a:r>
              <a:rPr lang="en-US" altLang="zh-CN" sz="2000" dirty="0"/>
              <a:t>SDMA</a:t>
            </a:r>
            <a:r>
              <a:rPr lang="zh-CN" altLang="en-US" sz="2000" dirty="0"/>
              <a:t>设计的</a:t>
            </a:r>
            <a:r>
              <a:rPr lang="en-US" altLang="zh-CN" sz="2000" dirty="0"/>
              <a:t>outstanding</a:t>
            </a:r>
            <a:r>
              <a:rPr lang="zh-CN" altLang="en-US" sz="2000" dirty="0"/>
              <a:t>数量较大，接南向</a:t>
            </a:r>
            <a:r>
              <a:rPr lang="en-US" altLang="zh-CN" sz="2000" dirty="0"/>
              <a:t>PCIE Switch+</a:t>
            </a:r>
            <a:r>
              <a:rPr lang="zh-CN" altLang="en-US" sz="2000" dirty="0"/>
              <a:t>光模块，带宽实测</a:t>
            </a:r>
            <a:r>
              <a:rPr lang="en-US" altLang="zh-CN" sz="2000" dirty="0"/>
              <a:t>&gt;29GB/s</a:t>
            </a:r>
            <a:r>
              <a:rPr lang="zh-CN" altLang="en-US" sz="2000" dirty="0"/>
              <a:t>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69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BR166 </a:t>
            </a:r>
            <a:r>
              <a:rPr lang="en-US" altLang="zh-CN" dirty="0" smtClean="0"/>
              <a:t>UBB V1</a:t>
            </a:r>
            <a:r>
              <a:rPr lang="zh-CN" altLang="en-US" dirty="0"/>
              <a:t>拓扑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034" y="717607"/>
            <a:ext cx="10158352" cy="520541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0034" y="6165279"/>
            <a:ext cx="7103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Slave die</a:t>
            </a:r>
            <a:r>
              <a:rPr lang="zh-CN" altLang="en-US" dirty="0" smtClean="0"/>
              <a:t>使用了</a:t>
            </a:r>
            <a:r>
              <a:rPr lang="en-US" altLang="zh-CN" dirty="0" smtClean="0"/>
              <a:t>port 6/7/8/10</a:t>
            </a:r>
            <a:r>
              <a:rPr lang="zh-CN" altLang="en-US" dirty="0" smtClean="0"/>
              <a:t>，</a:t>
            </a:r>
            <a:r>
              <a:rPr lang="en-US" altLang="zh-CN" dirty="0" err="1"/>
              <a:t>subnoc</a:t>
            </a:r>
            <a:r>
              <a:rPr lang="en-US" altLang="zh-CN" dirty="0"/>
              <a:t> id</a:t>
            </a:r>
            <a:r>
              <a:rPr lang="zh-CN" altLang="en-US" dirty="0"/>
              <a:t>冲突点为</a:t>
            </a:r>
            <a:r>
              <a:rPr lang="en-US" altLang="zh-CN" dirty="0"/>
              <a:t>2</a:t>
            </a:r>
            <a:r>
              <a:rPr lang="zh-CN" altLang="en-US" dirty="0" smtClean="0"/>
              <a:t>个，无法配成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7095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BR166 </a:t>
            </a:r>
            <a:r>
              <a:rPr lang="en-US" altLang="zh-CN" dirty="0" smtClean="0"/>
              <a:t>UBB V2</a:t>
            </a:r>
            <a:r>
              <a:rPr lang="zh-CN" altLang="en-US" dirty="0" smtClean="0"/>
              <a:t>拓扑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60034" y="6246408"/>
            <a:ext cx="5915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Slave die</a:t>
            </a:r>
            <a:r>
              <a:rPr lang="zh-CN" altLang="en-US" dirty="0" smtClean="0"/>
              <a:t>使用了</a:t>
            </a:r>
            <a:r>
              <a:rPr lang="en-US" altLang="zh-CN" dirty="0" smtClean="0"/>
              <a:t>port 6/7/8/9</a:t>
            </a:r>
            <a:r>
              <a:rPr lang="zh-CN" altLang="en-US" dirty="0" smtClean="0"/>
              <a:t>，</a:t>
            </a:r>
            <a:r>
              <a:rPr lang="en-US" altLang="zh-CN" dirty="0" err="1"/>
              <a:t>subnoc</a:t>
            </a:r>
            <a:r>
              <a:rPr lang="en-US" altLang="zh-CN" dirty="0"/>
              <a:t> id</a:t>
            </a:r>
            <a:r>
              <a:rPr lang="zh-CN" altLang="en-US" dirty="0"/>
              <a:t>冲突</a:t>
            </a:r>
            <a:r>
              <a:rPr lang="zh-CN" altLang="en-US" dirty="0" smtClean="0"/>
              <a:t>点可配成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4" y="717608"/>
            <a:ext cx="10260586" cy="544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80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BR166 UBB V2</a:t>
            </a:r>
            <a:r>
              <a:rPr lang="zh-CN" altLang="en-US" dirty="0" smtClean="0"/>
              <a:t>下的使用</a:t>
            </a:r>
            <a:r>
              <a:rPr lang="en-US" altLang="zh-CN" dirty="0" smtClean="0"/>
              <a:t>Tips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altLang="zh-CN" sz="2000" dirty="0"/>
              <a:t>Master die</a:t>
            </a:r>
            <a:r>
              <a:rPr lang="zh-CN" altLang="zh-CN" sz="2000" dirty="0"/>
              <a:t>，</a:t>
            </a:r>
            <a:r>
              <a:rPr lang="en-US" altLang="zh-CN" sz="2000" dirty="0"/>
              <a:t>NIC</a:t>
            </a:r>
            <a:r>
              <a:rPr lang="zh-CN" altLang="zh-CN" sz="2000" dirty="0"/>
              <a:t>写</a:t>
            </a:r>
            <a:r>
              <a:rPr lang="en-US" altLang="zh-CN" sz="2000" dirty="0"/>
              <a:t>GPU</a:t>
            </a:r>
            <a:r>
              <a:rPr lang="zh-CN" altLang="zh-CN" sz="2000" dirty="0"/>
              <a:t>时</a:t>
            </a:r>
            <a:r>
              <a:rPr lang="en-US" altLang="zh-CN" sz="2000" dirty="0"/>
              <a:t>(p2p_1)</a:t>
            </a:r>
            <a:r>
              <a:rPr lang="zh-CN" altLang="zh-CN" sz="2000" dirty="0"/>
              <a:t>，</a:t>
            </a:r>
            <a:r>
              <a:rPr lang="en-US" altLang="zh-CN" sz="2000" dirty="0"/>
              <a:t>CPDMA EU 0/1</a:t>
            </a:r>
            <a:r>
              <a:rPr lang="zh-CN" altLang="zh-CN" sz="2000" dirty="0"/>
              <a:t>上的</a:t>
            </a:r>
            <a:r>
              <a:rPr lang="en-US" altLang="zh-CN" sz="2000" dirty="0" smtClean="0"/>
              <a:t>P2P</a:t>
            </a:r>
            <a:r>
              <a:rPr lang="zh-CN" altLang="en-US" sz="2000" dirty="0" smtClean="0"/>
              <a:t>或者</a:t>
            </a:r>
            <a:r>
              <a:rPr lang="en-US" altLang="zh-CN" sz="2000" dirty="0" smtClean="0"/>
              <a:t>D2D</a:t>
            </a:r>
            <a:r>
              <a:rPr lang="zh-CN" altLang="zh-CN" sz="2000" dirty="0"/>
              <a:t>拷贝带宽会被严重影响；</a:t>
            </a:r>
          </a:p>
          <a:p>
            <a:pPr fontAlgn="ctr"/>
            <a:r>
              <a:rPr lang="en-US" altLang="zh-CN" sz="2000" dirty="0"/>
              <a:t>Master die</a:t>
            </a:r>
            <a:r>
              <a:rPr lang="zh-CN" altLang="zh-CN" sz="2000" dirty="0"/>
              <a:t>，</a:t>
            </a:r>
            <a:r>
              <a:rPr lang="en-US" altLang="zh-CN" sz="2000" dirty="0"/>
              <a:t>blink</a:t>
            </a:r>
            <a:r>
              <a:rPr lang="zh-CN" altLang="zh-CN" sz="2000" dirty="0"/>
              <a:t>传输时，配置</a:t>
            </a:r>
            <a:r>
              <a:rPr lang="en-US" altLang="zh-CN" sz="2000" dirty="0" err="1"/>
              <a:t>cpdma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eu</a:t>
            </a:r>
            <a:r>
              <a:rPr lang="zh-CN" altLang="zh-CN" sz="2000" dirty="0"/>
              <a:t>，可以使</a:t>
            </a:r>
            <a:r>
              <a:rPr lang="en-US" altLang="zh-CN" sz="2000" dirty="0" err="1"/>
              <a:t>subnoc</a:t>
            </a:r>
            <a:r>
              <a:rPr lang="en-US" altLang="zh-CN" sz="2000" dirty="0"/>
              <a:t> id</a:t>
            </a:r>
            <a:r>
              <a:rPr lang="zh-CN" altLang="zh-CN" sz="2000" dirty="0"/>
              <a:t>冲突点为</a:t>
            </a:r>
            <a:r>
              <a:rPr lang="en-US" altLang="zh-CN" sz="2000" dirty="0"/>
              <a:t>1</a:t>
            </a:r>
            <a:r>
              <a:rPr lang="zh-CN" altLang="zh-CN" sz="2000" dirty="0"/>
              <a:t>个；</a:t>
            </a:r>
          </a:p>
          <a:p>
            <a:pPr fontAlgn="ctr"/>
            <a:r>
              <a:rPr lang="en-US" altLang="zh-CN" sz="2000" dirty="0" smtClean="0"/>
              <a:t>Slave </a:t>
            </a:r>
            <a:r>
              <a:rPr lang="en-US" altLang="zh-CN" sz="2000" dirty="0"/>
              <a:t>die port10</a:t>
            </a:r>
            <a:r>
              <a:rPr lang="zh-CN" altLang="zh-CN" sz="2000" dirty="0"/>
              <a:t>，做为</a:t>
            </a:r>
            <a:r>
              <a:rPr lang="en-US" altLang="zh-CN" sz="2000" dirty="0"/>
              <a:t>scale out port</a:t>
            </a:r>
            <a:r>
              <a:rPr lang="zh-CN" altLang="zh-CN" sz="2000" dirty="0" smtClean="0"/>
              <a:t>时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lvl="1" fontAlgn="ctr">
              <a:buFont typeface="Wingdings" panose="05000000000000000000" pitchFamily="2" charset="2"/>
              <a:buChar char="ü"/>
            </a:pPr>
            <a:r>
              <a:rPr lang="en-US" altLang="zh-CN" sz="1600" dirty="0" smtClean="0"/>
              <a:t>Slave die 4</a:t>
            </a:r>
            <a:r>
              <a:rPr lang="en-US" altLang="zh-CN" sz="1600" dirty="0"/>
              <a:t> </a:t>
            </a:r>
            <a:r>
              <a:rPr lang="en-US" altLang="zh-CN" sz="1600" dirty="0" err="1" smtClean="0"/>
              <a:t>cpdma</a:t>
            </a:r>
            <a:r>
              <a:rPr lang="en-US" altLang="zh-CN" sz="1600" dirty="0" smtClean="0"/>
              <a:t> + 4 p2p port</a:t>
            </a:r>
            <a:r>
              <a:rPr lang="zh-CN" altLang="zh-CN" sz="1600" dirty="0" smtClean="0"/>
              <a:t>同时工作</a:t>
            </a:r>
            <a:r>
              <a:rPr lang="zh-CN" altLang="en-US" sz="1600" dirty="0" smtClean="0"/>
              <a:t>的情况下</a:t>
            </a:r>
            <a:r>
              <a:rPr lang="zh-CN" altLang="zh-CN" sz="1600" dirty="0" smtClean="0"/>
              <a:t>，</a:t>
            </a:r>
            <a:r>
              <a:rPr lang="en-US" altLang="zh-CN" sz="1600" dirty="0" smtClean="0"/>
              <a:t>sdma+port10</a:t>
            </a:r>
            <a:r>
              <a:rPr lang="zh-CN" altLang="en-US" sz="1600" dirty="0" smtClean="0"/>
              <a:t>或者</a:t>
            </a:r>
            <a:r>
              <a:rPr lang="en-US" altLang="zh-CN" sz="1600" dirty="0" smtClean="0"/>
              <a:t>spc+port10</a:t>
            </a:r>
            <a:r>
              <a:rPr lang="zh-CN" altLang="en-US" sz="1600" dirty="0" smtClean="0"/>
              <a:t>，</a:t>
            </a:r>
            <a:r>
              <a:rPr lang="zh-CN" altLang="zh-CN" sz="1600" dirty="0" smtClean="0"/>
              <a:t>都会</a:t>
            </a:r>
            <a:r>
              <a:rPr lang="zh-CN" altLang="zh-CN" sz="1600" dirty="0"/>
              <a:t>严重影响</a:t>
            </a:r>
            <a:r>
              <a:rPr lang="en-US" altLang="zh-CN" sz="1600" dirty="0"/>
              <a:t>port10 </a:t>
            </a:r>
            <a:r>
              <a:rPr lang="en-US" altLang="zh-CN" sz="1600" dirty="0" err="1"/>
              <a:t>subnoc</a:t>
            </a:r>
            <a:r>
              <a:rPr lang="zh-CN" altLang="zh-CN" sz="1600" dirty="0"/>
              <a:t>上的</a:t>
            </a:r>
            <a:r>
              <a:rPr lang="en-US" altLang="zh-CN" sz="1600" dirty="0" err="1"/>
              <a:t>cpdma</a:t>
            </a:r>
            <a:r>
              <a:rPr lang="zh-CN" altLang="zh-CN" sz="1600" dirty="0"/>
              <a:t>带宽</a:t>
            </a:r>
            <a:r>
              <a:rPr lang="zh-CN" altLang="zh-CN" sz="1600" dirty="0" smtClean="0"/>
              <a:t>；</a:t>
            </a:r>
            <a:endParaRPr lang="en-US" altLang="zh-CN" sz="1600" dirty="0" smtClean="0"/>
          </a:p>
          <a:p>
            <a:pPr lvl="1" fontAlgn="ctr"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实际场景中，如果可以通过减少</a:t>
            </a:r>
            <a:r>
              <a:rPr lang="en-US" altLang="zh-CN" sz="1600" dirty="0" smtClean="0"/>
              <a:t>cpdma+p2p</a:t>
            </a:r>
            <a:r>
              <a:rPr lang="zh-CN" altLang="en-US" sz="1600" dirty="0" smtClean="0"/>
              <a:t>的使用数量，避开</a:t>
            </a:r>
            <a:r>
              <a:rPr lang="en-US" altLang="zh-CN" sz="1600" dirty="0" smtClean="0"/>
              <a:t>p2p </a:t>
            </a:r>
            <a:r>
              <a:rPr lang="en-US" altLang="zh-CN" sz="1600" dirty="0" err="1" smtClean="0"/>
              <a:t>subnoc</a:t>
            </a:r>
            <a:r>
              <a:rPr lang="zh-CN" altLang="en-US" sz="1600" dirty="0" smtClean="0"/>
              <a:t>两个冲突点的情况，那么带宽影响可控；</a:t>
            </a:r>
            <a:endParaRPr lang="zh-CN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22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BR10X P2P_SUBSYS</a:t>
            </a:r>
            <a:r>
              <a:rPr lang="zh-CN" altLang="en-US" dirty="0"/>
              <a:t>各组件对应关系速</a:t>
            </a:r>
            <a:r>
              <a:rPr lang="zh-CN" altLang="en-US" dirty="0" smtClean="0"/>
              <a:t>查表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ctr">
              <a:buNone/>
            </a:pPr>
            <a:r>
              <a:rPr lang="en-US" altLang="zh-CN" dirty="0" smtClean="0"/>
              <a:t> 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55445"/>
              </p:ext>
            </p:extLst>
          </p:nvPr>
        </p:nvGraphicFramePr>
        <p:xfrm>
          <a:off x="560034" y="1107454"/>
          <a:ext cx="10135674" cy="450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469">
                  <a:extLst>
                    <a:ext uri="{9D8B030D-6E8A-4147-A177-3AD203B41FA5}">
                      <a16:colId xmlns:a16="http://schemas.microsoft.com/office/drawing/2014/main" val="2855400079"/>
                    </a:ext>
                  </a:extLst>
                </a:gridCol>
                <a:gridCol w="1167115">
                  <a:extLst>
                    <a:ext uri="{9D8B030D-6E8A-4147-A177-3AD203B41FA5}">
                      <a16:colId xmlns:a16="http://schemas.microsoft.com/office/drawing/2014/main" val="698501575"/>
                    </a:ext>
                  </a:extLst>
                </a:gridCol>
                <a:gridCol w="975823">
                  <a:extLst>
                    <a:ext uri="{9D8B030D-6E8A-4147-A177-3AD203B41FA5}">
                      <a16:colId xmlns:a16="http://schemas.microsoft.com/office/drawing/2014/main" val="2061308873"/>
                    </a:ext>
                  </a:extLst>
                </a:gridCol>
                <a:gridCol w="1071469">
                  <a:extLst>
                    <a:ext uri="{9D8B030D-6E8A-4147-A177-3AD203B41FA5}">
                      <a16:colId xmlns:a16="http://schemas.microsoft.com/office/drawing/2014/main" val="974068591"/>
                    </a:ext>
                  </a:extLst>
                </a:gridCol>
                <a:gridCol w="1259155">
                  <a:extLst>
                    <a:ext uri="{9D8B030D-6E8A-4147-A177-3AD203B41FA5}">
                      <a16:colId xmlns:a16="http://schemas.microsoft.com/office/drawing/2014/main" val="3912937100"/>
                    </a:ext>
                  </a:extLst>
                </a:gridCol>
                <a:gridCol w="1065507">
                  <a:extLst>
                    <a:ext uri="{9D8B030D-6E8A-4147-A177-3AD203B41FA5}">
                      <a16:colId xmlns:a16="http://schemas.microsoft.com/office/drawing/2014/main" val="3970728414"/>
                    </a:ext>
                  </a:extLst>
                </a:gridCol>
                <a:gridCol w="1483743">
                  <a:extLst>
                    <a:ext uri="{9D8B030D-6E8A-4147-A177-3AD203B41FA5}">
                      <a16:colId xmlns:a16="http://schemas.microsoft.com/office/drawing/2014/main" val="9553938"/>
                    </a:ext>
                  </a:extLst>
                </a:gridCol>
                <a:gridCol w="2041393">
                  <a:extLst>
                    <a:ext uri="{9D8B030D-6E8A-4147-A177-3AD203B41FA5}">
                      <a16:colId xmlns:a16="http://schemas.microsoft.com/office/drawing/2014/main" val="1042423009"/>
                    </a:ext>
                  </a:extLst>
                </a:gridCol>
              </a:tblGrid>
              <a:tr h="66483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P2P </a:t>
                      </a:r>
                      <a:r>
                        <a:rPr lang="en-US" altLang="zh-CN" dirty="0" err="1" smtClean="0"/>
                        <a:t>Subsys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ASIC P2P Port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Port per Die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Lane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HA instance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Subnoc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CPDMA EU Position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CPDMA PAGEN Position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147822"/>
                  </a:ext>
                </a:extLst>
              </a:tr>
              <a:tr h="379905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x16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(PCIE)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M1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[7:0]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HA0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EU0, EU1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175393"/>
                  </a:ext>
                </a:extLst>
              </a:tr>
              <a:tr h="3799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M2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[8:15]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HA1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5084"/>
                  </a:ext>
                </a:extLst>
              </a:tr>
              <a:tr h="385181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x8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M3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[7:0]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HA0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EU2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14017"/>
                  </a:ext>
                </a:extLst>
              </a:tr>
              <a:tr h="385181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x16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M4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[7:0]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HA0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EU3, EU4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54558"/>
                  </a:ext>
                </a:extLst>
              </a:tr>
              <a:tr h="38518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M5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[8:15]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HA1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421889"/>
                  </a:ext>
                </a:extLst>
              </a:tr>
              <a:tr h="385181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x16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S5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[8:15]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HA1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67868"/>
                  </a:ext>
                </a:extLst>
              </a:tr>
              <a:tr h="38518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S4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[7:0]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HA0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EU8, EU9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*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465191"/>
                  </a:ext>
                </a:extLst>
              </a:tr>
              <a:tr h="385181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x8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S3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[7:0]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HA0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EU7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053098"/>
                  </a:ext>
                </a:extLst>
              </a:tr>
              <a:tr h="385181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x16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S2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[8:15]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HA1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355170"/>
                  </a:ext>
                </a:extLst>
              </a:tr>
              <a:tr h="38518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S1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[7:0]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HA0</a:t>
                      </a:r>
                      <a:endParaRPr lang="zh-CN" altLang="en-US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EU5, EU6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*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906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86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P2P port2</a:t>
            </a:r>
            <a:r>
              <a:rPr lang="zh-CN" altLang="en-US" dirty="0" smtClean="0"/>
              <a:t>死锁的可能性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Errata 61</a:t>
            </a:r>
            <a:r>
              <a:rPr lang="zh-CN" altLang="en-US" dirty="0" smtClean="0"/>
              <a:t>， </a:t>
            </a:r>
            <a:r>
              <a:rPr lang="en-US" altLang="zh-CN" dirty="0" smtClean="0">
                <a:hlinkClick r:id="rId2"/>
              </a:rPr>
              <a:t>BRHW-6105</a:t>
            </a:r>
            <a:endParaRPr lang="en-US" altLang="zh-CN" dirty="0" smtClean="0"/>
          </a:p>
          <a:p>
            <a:r>
              <a:rPr lang="en-US" altLang="zh-CN" dirty="0" smtClean="0"/>
              <a:t>TODO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slave port9</a:t>
            </a:r>
            <a:r>
              <a:rPr lang="zh-CN" altLang="en-US" dirty="0" smtClean="0"/>
              <a:t>死锁的可能性分析 </a:t>
            </a:r>
            <a:r>
              <a:rPr lang="en-US" altLang="zh-CN" dirty="0" smtClean="0"/>
              <a:t>-- Jozo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481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SDMA slave die EU</a:t>
            </a:r>
            <a:r>
              <a:rPr lang="zh-CN" altLang="en-US" dirty="0" smtClean="0"/>
              <a:t>禁用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2"/>
              </a:rPr>
              <a:t>BSD-10542</a:t>
            </a:r>
            <a:endParaRPr lang="en-US" altLang="zh-CN" dirty="0"/>
          </a:p>
          <a:p>
            <a:r>
              <a:rPr lang="en-US" altLang="zh-CN" dirty="0" smtClean="0"/>
              <a:t>Errata</a:t>
            </a:r>
            <a:r>
              <a:rPr lang="zh-CN" altLang="en-US" dirty="0" smtClean="0"/>
              <a:t>正在创建中 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22807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BR-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-PPT.potx" id="{FC8DE450-3F48-45B7-932A-583B6291937B}" vid="{E0D2E7D9-24E1-452A-90B8-272CFC67B5C9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1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66CA3"/>
      </a:accent1>
      <a:accent2>
        <a:srgbClr val="46B9D0"/>
      </a:accent2>
      <a:accent3>
        <a:srgbClr val="166CA3"/>
      </a:accent3>
      <a:accent4>
        <a:srgbClr val="46B9D0"/>
      </a:accent4>
      <a:accent5>
        <a:srgbClr val="166CA3"/>
      </a:accent5>
      <a:accent6>
        <a:srgbClr val="46B9D0"/>
      </a:accent6>
      <a:hlink>
        <a:srgbClr val="166CA3"/>
      </a:hlink>
      <a:folHlink>
        <a:srgbClr val="46B9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-PPT.potx" id="{FC8DE450-3F48-45B7-932A-583B6291937B}" vid="{82B3D146-4D60-424B-A301-0CCA87096FD9}"/>
    </a:ext>
  </a:extLst>
</a:theme>
</file>

<file path=ppt/theme/theme3.xml><?xml version="1.0" encoding="utf-8"?>
<a:theme xmlns:a="http://schemas.openxmlformats.org/drawingml/2006/main" name="1_BR-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-PPT.potx" id="{FC8DE450-3F48-45B7-932A-583B6291937B}" vid="{08AE4142-934A-4070-9305-5C5D2C496D2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</TotalTime>
  <Words>1482</Words>
  <Application>Microsoft Office PowerPoint</Application>
  <PresentationFormat>宽屏</PresentationFormat>
  <Paragraphs>177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 Unicode MS</vt:lpstr>
      <vt:lpstr>等线</vt:lpstr>
      <vt:lpstr>思源黑体 CN Heavy</vt:lpstr>
      <vt:lpstr>宋体</vt:lpstr>
      <vt:lpstr>Microsoft YaHei</vt:lpstr>
      <vt:lpstr>Microsoft YaHei</vt:lpstr>
      <vt:lpstr>Arial</vt:lpstr>
      <vt:lpstr>Calibri</vt:lpstr>
      <vt:lpstr>Calibri Light</vt:lpstr>
      <vt:lpstr>Wingdings</vt:lpstr>
      <vt:lpstr>BR-PPT</vt:lpstr>
      <vt:lpstr>第一PPT，www.1ppt.com</vt:lpstr>
      <vt:lpstr>1_BR-PPT</vt:lpstr>
      <vt:lpstr>PowerPoint 演示文稿</vt:lpstr>
      <vt:lpstr>One Team</vt:lpstr>
      <vt:lpstr>问题</vt:lpstr>
      <vt:lpstr>P2PX16_SUBSYS</vt:lpstr>
      <vt:lpstr>P2PX8_SUBSYS</vt:lpstr>
      <vt:lpstr>PCIE/P2P Write带宽低</vt:lpstr>
      <vt:lpstr>PCIE/P2P Write带宽低原因分析</vt:lpstr>
      <vt:lpstr>P2P AXI ID冲突问题</vt:lpstr>
      <vt:lpstr>P2P AXI ID冲突问题原因分析</vt:lpstr>
      <vt:lpstr>实验一：</vt:lpstr>
      <vt:lpstr>实验二：</vt:lpstr>
      <vt:lpstr>实验三：</vt:lpstr>
      <vt:lpstr>P2P接南向switch</vt:lpstr>
      <vt:lpstr>BR166 UBB V1拓扑</vt:lpstr>
      <vt:lpstr>BR166 UBB V2拓扑</vt:lpstr>
      <vt:lpstr>BR166 UBB V2下的使用Tips</vt:lpstr>
      <vt:lpstr>附1：BR10X P2P_SUBSYS各组件对应关系速查表</vt:lpstr>
      <vt:lpstr>附2：P2P port2死锁的可能性</vt:lpstr>
      <vt:lpstr>附3：SDMA slave die EU禁用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BR166 Lickscale Project</dc:title>
  <dc:creator>DaPeng Liu</dc:creator>
  <cp:lastModifiedBy>Tim Dong(董廷星)</cp:lastModifiedBy>
  <cp:revision>295</cp:revision>
  <dcterms:created xsi:type="dcterms:W3CDTF">2024-12-09T03:42:34Z</dcterms:created>
  <dcterms:modified xsi:type="dcterms:W3CDTF">2025-08-28T12:05:24Z</dcterms:modified>
</cp:coreProperties>
</file>